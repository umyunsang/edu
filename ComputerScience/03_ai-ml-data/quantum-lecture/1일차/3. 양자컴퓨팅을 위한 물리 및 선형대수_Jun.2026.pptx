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Noto Sans KR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jCwFpC1KrXnyR3pQztIFCHTXiW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NotoSansKR-bold.fntdata"/><Relationship Id="rId27" Type="http://schemas.openxmlformats.org/officeDocument/2006/relationships/font" Target="fonts/NotoSansK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표지 슬라이드">
  <p:cSld name="표지 슬라이드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3"/>
          <p:cNvPicPr preferRelativeResize="0"/>
          <p:nvPr/>
        </p:nvPicPr>
        <p:blipFill rotWithShape="1">
          <a:blip r:embed="rId2">
            <a:alphaModFix/>
          </a:blip>
          <a:srcRect b="0" l="19467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3"/>
          <p:cNvSpPr txBox="1"/>
          <p:nvPr/>
        </p:nvSpPr>
        <p:spPr>
          <a:xfrm>
            <a:off x="680044" y="6321356"/>
            <a:ext cx="4287186" cy="272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2026 © MegazoneCloud CORP. ALL RIGHTS RESERVED.</a:t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3" name="Google Shape;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52754" y="6308724"/>
            <a:ext cx="1276753" cy="325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38755" y="494767"/>
            <a:ext cx="1555049" cy="39350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3"/>
          <p:cNvSpPr txBox="1"/>
          <p:nvPr/>
        </p:nvSpPr>
        <p:spPr>
          <a:xfrm>
            <a:off x="558410" y="3129742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oto Sans KR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" name="Google Shape;16;p23"/>
          <p:cNvSpPr txBox="1"/>
          <p:nvPr>
            <p:ph idx="1" type="body"/>
          </p:nvPr>
        </p:nvSpPr>
        <p:spPr>
          <a:xfrm>
            <a:off x="4189413" y="4414838"/>
            <a:ext cx="3749675" cy="820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7" name="Google Shape;17;p23"/>
          <p:cNvSpPr txBox="1"/>
          <p:nvPr>
            <p:ph type="title"/>
          </p:nvPr>
        </p:nvSpPr>
        <p:spPr>
          <a:xfrm>
            <a:off x="838200" y="266627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oto Sans KR"/>
              <a:buNone/>
              <a:defRPr b="0" i="0" sz="4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중간 표지 슬라이드">
  <p:cSld name="중간 표지 슬라이드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24"/>
          <p:cNvPicPr preferRelativeResize="0"/>
          <p:nvPr/>
        </p:nvPicPr>
        <p:blipFill rotWithShape="1">
          <a:blip r:embed="rId2">
            <a:alphaModFix/>
          </a:blip>
          <a:srcRect b="0" l="19467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4"/>
          <p:cNvSpPr txBox="1"/>
          <p:nvPr/>
        </p:nvSpPr>
        <p:spPr>
          <a:xfrm>
            <a:off x="680044" y="6321356"/>
            <a:ext cx="4287186" cy="272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2026 © MegazoneCloud CORP. ALL RIGHTS RESERVED.</a:t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1" name="Google Shape;2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52754" y="6308724"/>
            <a:ext cx="1276753" cy="325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38755" y="494767"/>
            <a:ext cx="1555049" cy="39350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4"/>
          <p:cNvSpPr txBox="1"/>
          <p:nvPr/>
        </p:nvSpPr>
        <p:spPr>
          <a:xfrm>
            <a:off x="558410" y="3129742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oto Sans KR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" name="Google Shape;24;p24"/>
          <p:cNvSpPr txBox="1"/>
          <p:nvPr>
            <p:ph type="title"/>
          </p:nvPr>
        </p:nvSpPr>
        <p:spPr>
          <a:xfrm>
            <a:off x="838200" y="331269"/>
            <a:ext cx="10515600" cy="823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oto Sans KR"/>
              <a:buNone/>
              <a:defRPr b="0" i="0" sz="32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본문">
  <p:cSld name="본문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25"/>
          <p:cNvCxnSpPr/>
          <p:nvPr/>
        </p:nvCxnSpPr>
        <p:spPr>
          <a:xfrm>
            <a:off x="543732" y="980623"/>
            <a:ext cx="11082383" cy="0"/>
          </a:xfrm>
          <a:prstGeom prst="straightConnector1">
            <a:avLst/>
          </a:prstGeom>
          <a:noFill/>
          <a:ln cap="flat" cmpd="sng" w="19050">
            <a:solidFill>
              <a:srgbClr val="0A234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7" name="Google Shape;27;p25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  <a:defRPr b="0" i="0" sz="40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8" name="Google Shape;28;p25"/>
          <p:cNvSpPr txBox="1"/>
          <p:nvPr>
            <p:ph idx="1" type="body"/>
          </p:nvPr>
        </p:nvSpPr>
        <p:spPr>
          <a:xfrm>
            <a:off x="544513" y="1138239"/>
            <a:ext cx="11074400" cy="5183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29" name="Google Shape;29;p25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rtl="0" algn="ct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rtl="0" algn="ct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rtl="0" algn="ct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rtl="0" algn="ct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rtl="0" algn="ct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rtl="0" algn="ct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rtl="0" algn="ct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rtl="0" algn="ct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30" name="Google Shape;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8755" y="494767"/>
            <a:ext cx="1555049" cy="39350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5"/>
          <p:cNvSpPr txBox="1"/>
          <p:nvPr/>
        </p:nvSpPr>
        <p:spPr>
          <a:xfrm>
            <a:off x="680044" y="6321356"/>
            <a:ext cx="4287186" cy="272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2026 © MegazoneCloud CORP. ALL RIGHTS RESERVED.</a:t>
            </a:r>
            <a:endParaRPr sz="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1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마지막 슬라이드">
  <p:cSld name="마지막 슬라이드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26"/>
          <p:cNvPicPr preferRelativeResize="0"/>
          <p:nvPr/>
        </p:nvPicPr>
        <p:blipFill rotWithShape="1">
          <a:blip r:embed="rId2">
            <a:alphaModFix/>
          </a:blip>
          <a:srcRect b="0" l="19467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6"/>
          <p:cNvSpPr txBox="1"/>
          <p:nvPr/>
        </p:nvSpPr>
        <p:spPr>
          <a:xfrm>
            <a:off x="680044" y="6321356"/>
            <a:ext cx="4287186" cy="272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2026 © MegazoneCloud CORP. ALL RIGHTS RESERVED.</a:t>
            </a:r>
            <a:endParaRPr sz="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5" name="Google Shape;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52754" y="6308724"/>
            <a:ext cx="1276753" cy="325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38755" y="494767"/>
            <a:ext cx="1555049" cy="39350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6"/>
          <p:cNvSpPr txBox="1"/>
          <p:nvPr/>
        </p:nvSpPr>
        <p:spPr>
          <a:xfrm>
            <a:off x="558410" y="3129742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oto Sans KR"/>
              <a:buNone/>
            </a:pPr>
            <a:r>
              <a:t/>
            </a:r>
            <a:endParaRPr sz="4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38" name="Google Shape;38;p26"/>
          <p:cNvGrpSpPr/>
          <p:nvPr/>
        </p:nvGrpSpPr>
        <p:grpSpPr>
          <a:xfrm>
            <a:off x="766762" y="2418352"/>
            <a:ext cx="10658476" cy="1039279"/>
            <a:chOff x="766762" y="2416723"/>
            <a:chExt cx="10658476" cy="1039279"/>
          </a:xfrm>
        </p:grpSpPr>
        <p:sp>
          <p:nvSpPr>
            <p:cNvPr id="39" name="Google Shape;39;p26"/>
            <p:cNvSpPr txBox="1"/>
            <p:nvPr/>
          </p:nvSpPr>
          <p:spPr>
            <a:xfrm>
              <a:off x="766762" y="2416723"/>
              <a:ext cx="10658476" cy="6664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08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4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The gateway to all quantum computing technologies</a:t>
              </a:r>
              <a:endParaRPr/>
            </a:p>
          </p:txBody>
        </p:sp>
        <p:sp>
          <p:nvSpPr>
            <p:cNvPr id="40" name="Google Shape;40;p26"/>
            <p:cNvSpPr txBox="1"/>
            <p:nvPr/>
          </p:nvSpPr>
          <p:spPr>
            <a:xfrm>
              <a:off x="766762" y="3086670"/>
              <a:ext cx="1065847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B4BFE2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Thanks for Attention</a:t>
              </a:r>
              <a:endParaRPr/>
            </a:p>
          </p:txBody>
        </p:sp>
      </p:grpSp>
      <p:sp>
        <p:nvSpPr>
          <p:cNvPr id="41" name="Google Shape;41;p26"/>
          <p:cNvSpPr txBox="1"/>
          <p:nvPr>
            <p:ph idx="1" type="body"/>
          </p:nvPr>
        </p:nvSpPr>
        <p:spPr>
          <a:xfrm>
            <a:off x="698501" y="3925723"/>
            <a:ext cx="10795000" cy="449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목차 슬라이드">
  <p:cSld name="목차 슬라이드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27"/>
          <p:cNvPicPr preferRelativeResize="0"/>
          <p:nvPr/>
        </p:nvPicPr>
        <p:blipFill rotWithShape="1">
          <a:blip r:embed="rId2">
            <a:alphaModFix/>
          </a:blip>
          <a:srcRect b="0" l="19467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7"/>
          <p:cNvSpPr txBox="1"/>
          <p:nvPr/>
        </p:nvSpPr>
        <p:spPr>
          <a:xfrm>
            <a:off x="680044" y="6321356"/>
            <a:ext cx="4287186" cy="272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2026 © MegazoneCloud CORP. ALL RIGHTS RESERVED.</a:t>
            </a:r>
            <a:endParaRPr sz="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5" name="Google Shape;4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52754" y="6308724"/>
            <a:ext cx="1276753" cy="325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38755" y="494767"/>
            <a:ext cx="1555049" cy="393509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7"/>
          <p:cNvSpPr txBox="1"/>
          <p:nvPr/>
        </p:nvSpPr>
        <p:spPr>
          <a:xfrm>
            <a:off x="558410" y="3129742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oto Sans KR"/>
              <a:buNone/>
            </a:pPr>
            <a:r>
              <a:t/>
            </a:r>
            <a:endParaRPr sz="4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" name="Google Shape;48;p27"/>
          <p:cNvSpPr txBox="1"/>
          <p:nvPr>
            <p:ph type="title"/>
          </p:nvPr>
        </p:nvSpPr>
        <p:spPr>
          <a:xfrm>
            <a:off x="838200" y="331269"/>
            <a:ext cx="10515600" cy="823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oto Sans KR"/>
              <a:buNone/>
              <a:defRPr b="0" i="0" sz="32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9" name="Google Shape;49;p27"/>
          <p:cNvSpPr txBox="1"/>
          <p:nvPr>
            <p:ph idx="1" type="body"/>
          </p:nvPr>
        </p:nvSpPr>
        <p:spPr>
          <a:xfrm>
            <a:off x="838201" y="1585913"/>
            <a:ext cx="10591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37.png"/><Relationship Id="rId5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jpg"/><Relationship Id="rId4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27.png"/><Relationship Id="rId9" Type="http://schemas.openxmlformats.org/officeDocument/2006/relationships/image" Target="../media/image28.png"/><Relationship Id="rId5" Type="http://schemas.openxmlformats.org/officeDocument/2006/relationships/image" Target="../media/image38.png"/><Relationship Id="rId6" Type="http://schemas.openxmlformats.org/officeDocument/2006/relationships/image" Target="../media/image41.png"/><Relationship Id="rId7" Type="http://schemas.openxmlformats.org/officeDocument/2006/relationships/image" Target="../media/image31.png"/><Relationship Id="rId8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4.png"/><Relationship Id="rId4" Type="http://schemas.openxmlformats.org/officeDocument/2006/relationships/image" Target="../media/image33.png"/><Relationship Id="rId5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Relationship Id="rId4" Type="http://schemas.openxmlformats.org/officeDocument/2006/relationships/image" Target="../media/image26.png"/><Relationship Id="rId5" Type="http://schemas.openxmlformats.org/officeDocument/2006/relationships/image" Target="../media/image36.png"/><Relationship Id="rId6" Type="http://schemas.openxmlformats.org/officeDocument/2006/relationships/image" Target="../media/image4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Relationship Id="rId4" Type="http://schemas.openxmlformats.org/officeDocument/2006/relationships/image" Target="../media/image4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idx="1" type="body"/>
          </p:nvPr>
        </p:nvSpPr>
        <p:spPr>
          <a:xfrm>
            <a:off x="4189413" y="4414838"/>
            <a:ext cx="3749675" cy="820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 txBox="1"/>
          <p:nvPr>
            <p:ph type="title"/>
          </p:nvPr>
        </p:nvSpPr>
        <p:spPr>
          <a:xfrm>
            <a:off x="838200" y="266627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oto Sans KR"/>
              <a:buNone/>
            </a:pPr>
            <a:r>
              <a:rPr lang="ko-KR"/>
              <a:t>양자컴퓨팅을 위한 물리 및 선형대수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838200" y="331269"/>
            <a:ext cx="10515600" cy="823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oto Sans KR"/>
              <a:buNone/>
            </a:pPr>
            <a:r>
              <a:rPr lang="ko-KR"/>
              <a:t>INDEX</a:t>
            </a:r>
            <a:endParaRPr/>
          </a:p>
        </p:txBody>
      </p:sp>
      <p:sp>
        <p:nvSpPr>
          <p:cNvPr id="61" name="Google Shape;61;p2"/>
          <p:cNvSpPr txBox="1"/>
          <p:nvPr/>
        </p:nvSpPr>
        <p:spPr>
          <a:xfrm>
            <a:off x="838199" y="1582340"/>
            <a:ext cx="7177755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양자 컴퓨터, 알고리즘을 위한 기초 선형대수학</a:t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고윳값과 고유벡터</a:t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대각화와 부분 공간 </a:t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유니타리 변환과 가역성</a:t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텐서곱과 차원의 저주</a:t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양자 컴퓨팅, 알고리즘을 위한 기초 물리학</a:t>
            </a:r>
            <a:endParaRPr b="1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양자 상태의 두 가지 양상</a:t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큐비트와 복소수 평면</a:t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슈뢰딩거 방정식</a:t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레일리-리츠 변분 원리</a:t>
            </a:r>
            <a:endParaRPr b="0" i="0" sz="1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838200" y="331269"/>
            <a:ext cx="10515600" cy="823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oto Sans KR"/>
              <a:buNone/>
            </a:pPr>
            <a:r>
              <a:rPr lang="ko-KR"/>
              <a:t>양자 컴퓨터, 알고리즘을 위한 기초 선형대수학</a:t>
            </a:r>
            <a:endParaRPr/>
          </a:p>
        </p:txBody>
      </p:sp>
      <p:sp>
        <p:nvSpPr>
          <p:cNvPr id="67" name="Google Shape;67;p3"/>
          <p:cNvSpPr txBox="1"/>
          <p:nvPr>
            <p:ph idx="12" type="sldNum"/>
          </p:nvPr>
        </p:nvSpPr>
        <p:spPr>
          <a:xfrm>
            <a:off x="0" y="6343650"/>
            <a:ext cx="2743200" cy="227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73" name="Google Shape;73;p4"/>
          <p:cNvGrpSpPr/>
          <p:nvPr/>
        </p:nvGrpSpPr>
        <p:grpSpPr>
          <a:xfrm>
            <a:off x="543731" y="1190399"/>
            <a:ext cx="11177214" cy="4834200"/>
            <a:chOff x="543731" y="1190399"/>
            <a:chExt cx="11177214" cy="4834200"/>
          </a:xfrm>
        </p:grpSpPr>
        <p:pic>
          <p:nvPicPr>
            <p:cNvPr id="74" name="Google Shape;74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20631" y="2561517"/>
              <a:ext cx="3900314" cy="20920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" name="Google Shape;75;p4"/>
            <p:cNvSpPr/>
            <p:nvPr/>
          </p:nvSpPr>
          <p:spPr>
            <a:xfrm>
              <a:off x="543731" y="1190399"/>
              <a:ext cx="8080800" cy="48342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883" l="-226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</p:grpSp>
      <p:sp>
        <p:nvSpPr>
          <p:cNvPr id="76" name="Google Shape;76;p4"/>
          <p:cNvSpPr txBox="1"/>
          <p:nvPr/>
        </p:nvSpPr>
        <p:spPr>
          <a:xfrm>
            <a:off x="680729" y="6242328"/>
            <a:ext cx="694459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출처: https://angeloyeo.github.io/2019/07/17/eigen_vector.html</a:t>
            </a:r>
            <a:endParaRPr sz="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7" name="Google Shape;77;p4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b="1" i="0" lang="ko-KR" sz="4000" u="none" cap="none" strike="noStrike"/>
              <a:t>고윳값과 고유벡터 (1/2)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b="1" i="0" lang="ko-KR" sz="4000" u="none" cap="none" strike="noStrike"/>
              <a:t>고윳값과 고유벡터 (2/2)</a:t>
            </a:r>
            <a:endParaRPr/>
          </a:p>
        </p:txBody>
      </p:sp>
      <p:sp>
        <p:nvSpPr>
          <p:cNvPr id="83" name="Google Shape;83;p5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543731" y="1190921"/>
            <a:ext cx="6549940" cy="485203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879" l="-27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7320046" y="1845378"/>
            <a:ext cx="4357313" cy="3870010"/>
            <a:chOff x="7320046" y="1845378"/>
            <a:chExt cx="4357313" cy="3870010"/>
          </a:xfrm>
        </p:grpSpPr>
        <p:pic>
          <p:nvPicPr>
            <p:cNvPr id="86" name="Google Shape;86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20046" y="1845378"/>
              <a:ext cx="4357313" cy="34304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5"/>
            <p:cNvSpPr txBox="1"/>
            <p:nvPr/>
          </p:nvSpPr>
          <p:spPr>
            <a:xfrm>
              <a:off x="8430397" y="5284501"/>
              <a:ext cx="2136611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ko-KR" sz="110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위상 킥백</a:t>
              </a:r>
              <a:endParaRPr i="0" sz="11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ko-KR" sz="110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(Phase Kickback)</a:t>
              </a:r>
              <a:endParaRPr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b="1" i="0" lang="ko-KR"/>
              <a:t>대각화와 부분 공간 (1/2)</a:t>
            </a:r>
            <a:endParaRPr/>
          </a:p>
        </p:txBody>
      </p:sp>
      <p:sp>
        <p:nvSpPr>
          <p:cNvPr id="93" name="Google Shape;93;p6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543731" y="1643676"/>
            <a:ext cx="5598473" cy="312553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32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grpSp>
        <p:nvGrpSpPr>
          <p:cNvPr id="95" name="Google Shape;95;p6"/>
          <p:cNvGrpSpPr/>
          <p:nvPr/>
        </p:nvGrpSpPr>
        <p:grpSpPr>
          <a:xfrm>
            <a:off x="6780465" y="1370734"/>
            <a:ext cx="4436026" cy="4116531"/>
            <a:chOff x="6764149" y="1023505"/>
            <a:chExt cx="4978815" cy="4620227"/>
          </a:xfrm>
        </p:grpSpPr>
        <p:pic>
          <p:nvPicPr>
            <p:cNvPr descr="선형대수학] 6.1 대칭 행렬의 대각화(Diagonalization of symmetric matric)" id="96" name="Google Shape;96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77069" y="3833982"/>
              <a:ext cx="4752975" cy="1809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대각화 가능 행렬" id="97" name="Google Shape;97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764149" y="1023505"/>
              <a:ext cx="4978815" cy="24054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6"/>
          <p:cNvSpPr txBox="1"/>
          <p:nvPr/>
        </p:nvSpPr>
        <p:spPr>
          <a:xfrm>
            <a:off x="680729" y="6242328"/>
            <a:ext cx="694459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출처: https://ai-com.tistory.com/entry/ML-Curse-of-Dimensionality-%EC%B0%A8%EC%9B%90%EC%9D%98-%EC%A0%80%EC%A3%BC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b="1" i="0" lang="ko-KR"/>
              <a:t>대각화와 부분 공간 (2/2)</a:t>
            </a:r>
            <a:endParaRPr/>
          </a:p>
        </p:txBody>
      </p:sp>
      <p:sp>
        <p:nvSpPr>
          <p:cNvPr id="104" name="Google Shape;104;p7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105" name="Google Shape;105;p7"/>
          <p:cNvGrpSpPr/>
          <p:nvPr/>
        </p:nvGrpSpPr>
        <p:grpSpPr>
          <a:xfrm>
            <a:off x="543731" y="1300446"/>
            <a:ext cx="10692882" cy="4651531"/>
            <a:chOff x="543731" y="1369718"/>
            <a:chExt cx="10692882" cy="4651531"/>
          </a:xfrm>
        </p:grpSpPr>
        <p:sp>
          <p:nvSpPr>
            <p:cNvPr id="106" name="Google Shape;106;p7"/>
            <p:cNvSpPr/>
            <p:nvPr/>
          </p:nvSpPr>
          <p:spPr>
            <a:xfrm>
              <a:off x="543731" y="1369718"/>
              <a:ext cx="6262254" cy="4651531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917" l="-292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  <p:pic>
          <p:nvPicPr>
            <p:cNvPr id="107" name="Google Shape;107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97651" y="1935956"/>
              <a:ext cx="4138962" cy="35190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8" name="Google Shape;108;p7"/>
          <p:cNvSpPr txBox="1"/>
          <p:nvPr/>
        </p:nvSpPr>
        <p:spPr>
          <a:xfrm>
            <a:off x="680729" y="6242328"/>
            <a:ext cx="694459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출처: https://mydatajourney.tistory.com/6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b="1" i="0" lang="ko-KR"/>
              <a:t>유니타리 변환과 가역성</a:t>
            </a:r>
            <a:r>
              <a:rPr b="0" i="0" lang="ko-KR"/>
              <a:t> </a:t>
            </a:r>
            <a:endParaRPr/>
          </a:p>
        </p:txBody>
      </p:sp>
      <p:sp>
        <p:nvSpPr>
          <p:cNvPr id="114" name="Google Shape;114;p8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543731" y="1429628"/>
            <a:ext cx="11013271" cy="4640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20" l="-16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b="1" i="0" lang="ko-KR"/>
              <a:t>텐서곱과 차원의 저주 (1/4)</a:t>
            </a:r>
            <a:endParaRPr/>
          </a:p>
        </p:txBody>
      </p:sp>
      <p:sp>
        <p:nvSpPr>
          <p:cNvPr id="121" name="Google Shape;121;p9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122" name="Google Shape;122;p9"/>
          <p:cNvGrpSpPr/>
          <p:nvPr/>
        </p:nvGrpSpPr>
        <p:grpSpPr>
          <a:xfrm>
            <a:off x="543731" y="1619944"/>
            <a:ext cx="11075182" cy="4187942"/>
            <a:chOff x="543731" y="1619944"/>
            <a:chExt cx="11075182" cy="4187942"/>
          </a:xfrm>
        </p:grpSpPr>
        <p:sp>
          <p:nvSpPr>
            <p:cNvPr id="123" name="Google Shape;123;p9"/>
            <p:cNvSpPr/>
            <p:nvPr/>
          </p:nvSpPr>
          <p:spPr>
            <a:xfrm>
              <a:off x="543731" y="1619944"/>
              <a:ext cx="6831714" cy="418794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-268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  <p:grpSp>
          <p:nvGrpSpPr>
            <p:cNvPr id="124" name="Google Shape;124;p9"/>
            <p:cNvGrpSpPr/>
            <p:nvPr/>
          </p:nvGrpSpPr>
          <p:grpSpPr>
            <a:xfrm>
              <a:off x="7531822" y="1978830"/>
              <a:ext cx="4087091" cy="3470170"/>
              <a:chOff x="7531822" y="2056334"/>
              <a:chExt cx="4087091" cy="3470170"/>
            </a:xfrm>
          </p:grpSpPr>
          <p:pic>
            <p:nvPicPr>
              <p:cNvPr id="125" name="Google Shape;125;p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531822" y="4029338"/>
                <a:ext cx="4087091" cy="14971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6" name="Google Shape;126;p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642431" y="2056334"/>
                <a:ext cx="3865872" cy="165758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b="1" i="0" lang="ko-KR"/>
              <a:t>텐서곱과 차원의 저주 (2/4)</a:t>
            </a:r>
            <a:endParaRPr/>
          </a:p>
        </p:txBody>
      </p:sp>
      <p:sp>
        <p:nvSpPr>
          <p:cNvPr id="132" name="Google Shape;132;p10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133" name="Google Shape;133;p10"/>
          <p:cNvGrpSpPr/>
          <p:nvPr/>
        </p:nvGrpSpPr>
        <p:grpSpPr>
          <a:xfrm>
            <a:off x="543731" y="1787377"/>
            <a:ext cx="11075181" cy="3972499"/>
            <a:chOff x="543731" y="1808159"/>
            <a:chExt cx="11075181" cy="3972499"/>
          </a:xfrm>
        </p:grpSpPr>
        <p:sp>
          <p:nvSpPr>
            <p:cNvPr id="134" name="Google Shape;134;p10"/>
            <p:cNvSpPr/>
            <p:nvPr/>
          </p:nvSpPr>
          <p:spPr>
            <a:xfrm>
              <a:off x="543731" y="1808159"/>
              <a:ext cx="7402286" cy="397249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1074" l="-247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  <p:pic>
          <p:nvPicPr>
            <p:cNvPr id="135" name="Google Shape;13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77679" y="3162871"/>
              <a:ext cx="3841233" cy="12630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/>
          <p:nvPr>
            <p:ph type="title"/>
          </p:nvPr>
        </p:nvSpPr>
        <p:spPr>
          <a:xfrm>
            <a:off x="543731" y="286871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b="1" i="0" lang="ko-KR"/>
              <a:t>텐서곱과 차원의 저주 (3/4)</a:t>
            </a:r>
            <a:endParaRPr/>
          </a:p>
        </p:txBody>
      </p:sp>
      <p:sp>
        <p:nvSpPr>
          <p:cNvPr id="141" name="Google Shape;141;p11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42" name="Google Shape;142;p11"/>
          <p:cNvSpPr/>
          <p:nvPr/>
        </p:nvSpPr>
        <p:spPr>
          <a:xfrm>
            <a:off x="543731" y="1395494"/>
            <a:ext cx="11075181" cy="20335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차원의 저주 정의</a:t>
            </a:r>
            <a:endParaRPr b="1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ko-KR" sz="14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데이터(n×p)의 차원이 증가함에 따라 </a:t>
            </a:r>
            <a:r>
              <a:rPr b="1" i="0" lang="ko-KR" sz="14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개수(n)가 차원의 크기(p)보다 작아져</a:t>
            </a:r>
            <a:r>
              <a:rPr b="0" i="0" lang="ko-KR" sz="14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학습 효율이 떨어지는 현상을 의미함</a:t>
            </a:r>
            <a:endParaRPr b="0" i="0" sz="140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차원이 증가하면 데이터를 이루는 공간이 커지며, 데이터가 넓어진 공간 전체에 퍼지게 </a:t>
            </a:r>
            <a:r>
              <a:rPr lang="ko-KR" sz="14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됨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고차원으로 갈수록 가장 가까운 점과 가장 먼점의 상대적 거리 차이가 작아지는 거리 집중 (Distance concentration) 현상이 나타남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ko-KR" sz="14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주의할 점은 변수가 증가한다고 반드시 차원의 저주가 발생하는 것은 아니며, </a:t>
            </a:r>
            <a:r>
              <a:rPr b="1" i="0" lang="ko-KR" sz="14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관측치보다 변수 수가 많아지는 경우에 차원의 저주 문제가 발생함</a:t>
            </a:r>
            <a:endParaRPr b="1" i="0" sz="140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상태 공간을 고려하는 엄밀한 대각화 (Exact Diagonalization, FCI)는 행렬의 크기가 우주의 원자 수보다 커지게 되어 고전 컴퓨터로는 연산이 원천적으로 불가능해짐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차원의 저주 (Curse of Dimensionality) &lt; 도리의 디지털라이프" id="143" name="Google Shape;14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1426" y="3460922"/>
            <a:ext cx="5669148" cy="273036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1"/>
          <p:cNvSpPr txBox="1"/>
          <p:nvPr/>
        </p:nvSpPr>
        <p:spPr>
          <a:xfrm>
            <a:off x="680729" y="6242328"/>
            <a:ext cx="694459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출처: https://ai-com.tistory.com/entry/ML-Curse-of-Dimensionality-%EC%B0%A8%EC%9B%90%EC%9D%98-%EC%A0%80%EC%A3%BC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b="1" i="0" lang="ko-KR"/>
              <a:t>텐서곱과 차원의 저주 (4/4)</a:t>
            </a:r>
            <a:endParaRPr/>
          </a:p>
        </p:txBody>
      </p:sp>
      <p:sp>
        <p:nvSpPr>
          <p:cNvPr id="150" name="Google Shape;150;p12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151" name="Google Shape;151;p12"/>
          <p:cNvGrpSpPr/>
          <p:nvPr/>
        </p:nvGrpSpPr>
        <p:grpSpPr>
          <a:xfrm>
            <a:off x="588256" y="1335610"/>
            <a:ext cx="11015489" cy="4601062"/>
            <a:chOff x="543731" y="1335610"/>
            <a:chExt cx="11015489" cy="4601062"/>
          </a:xfrm>
        </p:grpSpPr>
        <p:pic>
          <p:nvPicPr>
            <p:cNvPr descr="ML] Curse of Dimensionality (차원의 저주)" id="152" name="Google Shape;152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43731" y="2430120"/>
              <a:ext cx="5285151" cy="24120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63120" y="1335610"/>
              <a:ext cx="5196100" cy="46010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2"/>
          <p:cNvSpPr txBox="1"/>
          <p:nvPr/>
        </p:nvSpPr>
        <p:spPr>
          <a:xfrm>
            <a:off x="680729" y="6242328"/>
            <a:ext cx="694459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출처: https://ai-com.tistory.com/entry/ML-Curse-of-Dimensionality-%EC%B0%A8%EC%9B%90%EC%9D%98-%EC%A0%80%EC%A3%BC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/>
          <p:nvPr>
            <p:ph type="title"/>
          </p:nvPr>
        </p:nvSpPr>
        <p:spPr>
          <a:xfrm>
            <a:off x="838200" y="331269"/>
            <a:ext cx="10515600" cy="823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oto Sans KR"/>
              <a:buNone/>
            </a:pPr>
            <a:r>
              <a:rPr lang="ko-KR"/>
              <a:t>양자 컴퓨팅, 알고리즘을 위한 기초 물리학</a:t>
            </a:r>
            <a:endParaRPr/>
          </a:p>
        </p:txBody>
      </p:sp>
      <p:sp>
        <p:nvSpPr>
          <p:cNvPr id="160" name="Google Shape;160;p13"/>
          <p:cNvSpPr txBox="1"/>
          <p:nvPr>
            <p:ph idx="12" type="sldNum"/>
          </p:nvPr>
        </p:nvSpPr>
        <p:spPr>
          <a:xfrm>
            <a:off x="0" y="6343650"/>
            <a:ext cx="2743200" cy="227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b="1" i="0" lang="ko-KR"/>
              <a:t>양자 상태의 두 가지 양상</a:t>
            </a:r>
            <a:endParaRPr/>
          </a:p>
        </p:txBody>
      </p:sp>
      <p:sp>
        <p:nvSpPr>
          <p:cNvPr id="166" name="Google Shape;166;p14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67" name="Google Shape;167;p14"/>
          <p:cNvSpPr/>
          <p:nvPr/>
        </p:nvSpPr>
        <p:spPr>
          <a:xfrm>
            <a:off x="583593" y="1402541"/>
            <a:ext cx="11024814" cy="48397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2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b="1" i="0" lang="ko-KR"/>
              <a:t>큐비트와 복소수 평면</a:t>
            </a:r>
            <a:endParaRPr/>
          </a:p>
        </p:txBody>
      </p:sp>
      <p:sp>
        <p:nvSpPr>
          <p:cNvPr id="173" name="Google Shape;173;p15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74" name="Google Shape;1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3601" y="2191370"/>
            <a:ext cx="4455312" cy="314955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5"/>
          <p:cNvSpPr/>
          <p:nvPr/>
        </p:nvSpPr>
        <p:spPr>
          <a:xfrm>
            <a:off x="543409" y="1417792"/>
            <a:ext cx="6620192" cy="461883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925" l="-276" r="-27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lang="ko-KR"/>
              <a:t>에르미트 행렬 (Hermitian Matrix)</a:t>
            </a:r>
            <a:endParaRPr/>
          </a:p>
        </p:txBody>
      </p:sp>
      <p:sp>
        <p:nvSpPr>
          <p:cNvPr id="181" name="Google Shape;181;p16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543409" y="1355598"/>
            <a:ext cx="11139684" cy="160813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409" l="-10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grpSp>
        <p:nvGrpSpPr>
          <p:cNvPr id="183" name="Google Shape;183;p16"/>
          <p:cNvGrpSpPr/>
          <p:nvPr/>
        </p:nvGrpSpPr>
        <p:grpSpPr>
          <a:xfrm>
            <a:off x="2088488" y="3517866"/>
            <a:ext cx="8015025" cy="2763705"/>
            <a:chOff x="2088487" y="3517866"/>
            <a:chExt cx="8015025" cy="2763705"/>
          </a:xfrm>
        </p:grpSpPr>
        <p:pic>
          <p:nvPicPr>
            <p:cNvPr descr="image.png" id="184" name="Google Shape;184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88487" y="3517866"/>
              <a:ext cx="2528512" cy="27637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85" name="Google Shape;18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831687" y="3517866"/>
              <a:ext cx="2528512" cy="27637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86" name="Google Shape;186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574888" y="3517866"/>
              <a:ext cx="2528624" cy="2763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" name="Google Shape;187;p16"/>
            <p:cNvSpPr txBox="1"/>
            <p:nvPr/>
          </p:nvSpPr>
          <p:spPr>
            <a:xfrm>
              <a:off x="2250697" y="4441676"/>
              <a:ext cx="2204092" cy="3000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6F1FF"/>
                </a:buClr>
                <a:buSzPts val="1950"/>
                <a:buFont typeface="Noto Sans KR"/>
                <a:buNone/>
              </a:pPr>
              <a:r>
                <a:rPr b="1" i="0" lang="ko-KR" sz="1950" u="none" cap="none" strike="noStrike">
                  <a:solidFill>
                    <a:srgbClr val="E6F1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문제 부호화</a:t>
              </a:r>
              <a:endParaRPr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88" name="Google Shape;188;p16"/>
            <p:cNvSpPr txBox="1"/>
            <p:nvPr/>
          </p:nvSpPr>
          <p:spPr>
            <a:xfrm>
              <a:off x="4993897" y="4441676"/>
              <a:ext cx="2204092" cy="3000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6F1FF"/>
                </a:buClr>
                <a:buSzPts val="1950"/>
                <a:buFont typeface="Noto Sans KR"/>
                <a:buNone/>
              </a:pPr>
              <a:r>
                <a:rPr b="1" i="0" lang="ko-KR" sz="1950" u="none" cap="none" strike="noStrike">
                  <a:solidFill>
                    <a:srgbClr val="E6F1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시스템 실행</a:t>
              </a:r>
              <a:endParaRPr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89" name="Google Shape;189;p16"/>
            <p:cNvSpPr txBox="1"/>
            <p:nvPr/>
          </p:nvSpPr>
          <p:spPr>
            <a:xfrm>
              <a:off x="7737095" y="4441676"/>
              <a:ext cx="2204210" cy="3000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6F1FF"/>
                </a:buClr>
                <a:buSzPts val="1950"/>
                <a:buFont typeface="Noto Sans KR"/>
                <a:buNone/>
              </a:pPr>
              <a:r>
                <a:rPr b="1" i="0" lang="ko-KR" sz="1950" u="none" cap="none" strike="noStrike">
                  <a:solidFill>
                    <a:srgbClr val="E6F1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실수 정답 도출</a:t>
              </a:r>
              <a:endParaRPr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pic>
          <p:nvPicPr>
            <p:cNvPr descr="image.png" id="190" name="Google Shape;190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95249" y="3849657"/>
              <a:ext cx="314876" cy="3252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91" name="Google Shape;191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959974" y="3849657"/>
              <a:ext cx="271938" cy="3252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92" name="Google Shape;192;p1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660293" y="3849657"/>
              <a:ext cx="357814" cy="3252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" name="Google Shape;193;p16"/>
            <p:cNvSpPr txBox="1"/>
            <p:nvPr/>
          </p:nvSpPr>
          <p:spPr>
            <a:xfrm>
              <a:off x="2400187" y="5040703"/>
              <a:ext cx="1905000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1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풀고자 하는 문제 (데이터)를 행렬 형태로 변환합니다.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1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만들어진 행렬이 에르미트 행렬 (Hamiltonian)입니다.</a:t>
              </a:r>
              <a:endParaRPr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4" name="Google Shape;194;p16"/>
            <p:cNvSpPr txBox="1"/>
            <p:nvPr/>
          </p:nvSpPr>
          <p:spPr>
            <a:xfrm>
              <a:off x="5048193" y="5040703"/>
              <a:ext cx="2095500" cy="6001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1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입력된 에르미트 행렬은 유니타리 게이트로 계산되어, 양자 컴퓨터 내에서 상태를 변화시킵니다.</a:t>
              </a:r>
              <a:endParaRPr/>
            </a:p>
          </p:txBody>
        </p:sp>
        <p:sp>
          <p:nvSpPr>
            <p:cNvPr id="195" name="Google Shape;195;p16"/>
            <p:cNvSpPr txBox="1"/>
            <p:nvPr/>
          </p:nvSpPr>
          <p:spPr>
            <a:xfrm>
              <a:off x="7791450" y="5040703"/>
              <a:ext cx="2095500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1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계산이 완료된 후 시스템을 관측하면, 에르미트 행렬의 성질 덕분에 '실수' 형태의 최적해를 얻게 됩니다.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b="1" i="0" lang="ko-KR" sz="4000" u="none" cap="none" strike="noStrike">
                <a:solidFill>
                  <a:schemeClr val="dk1"/>
                </a:solidFill>
              </a:rPr>
              <a:t>슈뢰딩거 방정식</a:t>
            </a:r>
            <a:r>
              <a:rPr b="1" lang="ko-KR"/>
              <a:t> (1/2)</a:t>
            </a:r>
            <a:endParaRPr/>
          </a:p>
        </p:txBody>
      </p:sp>
      <p:sp>
        <p:nvSpPr>
          <p:cNvPr id="201" name="Google Shape;201;p17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202" name="Google Shape;202;p17"/>
          <p:cNvGrpSpPr/>
          <p:nvPr/>
        </p:nvGrpSpPr>
        <p:grpSpPr>
          <a:xfrm>
            <a:off x="543730" y="1416582"/>
            <a:ext cx="11075181" cy="3268139"/>
            <a:chOff x="543731" y="2012328"/>
            <a:chExt cx="11075181" cy="3268139"/>
          </a:xfrm>
        </p:grpSpPr>
        <p:pic>
          <p:nvPicPr>
            <p:cNvPr id="203" name="Google Shape;203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80924" y="3276600"/>
              <a:ext cx="3000794" cy="9716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p17"/>
            <p:cNvSpPr/>
            <p:nvPr/>
          </p:nvSpPr>
          <p:spPr>
            <a:xfrm>
              <a:off x="543731" y="2012328"/>
              <a:ext cx="11075181" cy="326813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1679" l="-165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</p:grpSp>
      <p:pic>
        <p:nvPicPr>
          <p:cNvPr id="205" name="Google Shape;205;p17"/>
          <p:cNvPicPr preferRelativeResize="0"/>
          <p:nvPr/>
        </p:nvPicPr>
        <p:blipFill rotWithShape="1">
          <a:blip r:embed="rId5">
            <a:alphaModFix/>
          </a:blip>
          <a:srcRect b="14036" l="38126" r="4764" t="26937"/>
          <a:stretch/>
        </p:blipFill>
        <p:spPr>
          <a:xfrm>
            <a:off x="8177341" y="3549294"/>
            <a:ext cx="2845946" cy="1662547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b="1" i="0" lang="ko-KR" sz="4000" u="none" cap="none" strike="noStrike"/>
              <a:t>슈뢰딩거 방정식 (2/2)</a:t>
            </a:r>
            <a:endParaRPr/>
          </a:p>
        </p:txBody>
      </p:sp>
      <p:sp>
        <p:nvSpPr>
          <p:cNvPr id="211" name="Google Shape;211;p18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212" name="Google Shape;212;p18"/>
          <p:cNvGrpSpPr/>
          <p:nvPr/>
        </p:nvGrpSpPr>
        <p:grpSpPr>
          <a:xfrm>
            <a:off x="543731" y="1288115"/>
            <a:ext cx="10603403" cy="3541612"/>
            <a:chOff x="543731" y="1918497"/>
            <a:chExt cx="10603403" cy="3541612"/>
          </a:xfrm>
        </p:grpSpPr>
        <p:sp>
          <p:nvSpPr>
            <p:cNvPr id="213" name="Google Shape;213;p18"/>
            <p:cNvSpPr/>
            <p:nvPr/>
          </p:nvSpPr>
          <p:spPr>
            <a:xfrm>
              <a:off x="543731" y="1918497"/>
              <a:ext cx="10391863" cy="354161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1377" l="-176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  <p:pic>
          <p:nvPicPr>
            <p:cNvPr id="214" name="Google Shape;214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89541" y="2059146"/>
              <a:ext cx="3057952" cy="8192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47493" y="3226043"/>
              <a:ext cx="2838846" cy="6096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127552" y="4546273"/>
              <a:ext cx="2019582" cy="5620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b="1" i="0" lang="ko-KR" sz="4000" u="none" cap="none" strike="noStrike"/>
              <a:t>레일리-리츠 변분 원리 (1/2)</a:t>
            </a:r>
            <a:endParaRPr/>
          </a:p>
        </p:txBody>
      </p:sp>
      <p:sp>
        <p:nvSpPr>
          <p:cNvPr id="222" name="Google Shape;222;p19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223" name="Google Shape;223;p19"/>
          <p:cNvGrpSpPr/>
          <p:nvPr/>
        </p:nvGrpSpPr>
        <p:grpSpPr>
          <a:xfrm>
            <a:off x="543731" y="1272538"/>
            <a:ext cx="11075182" cy="3541612"/>
            <a:chOff x="734938" y="1909847"/>
            <a:chExt cx="11075182" cy="3541612"/>
          </a:xfrm>
        </p:grpSpPr>
        <p:pic>
          <p:nvPicPr>
            <p:cNvPr id="224" name="Google Shape;224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05907" y="3492286"/>
              <a:ext cx="3305636" cy="9526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" name="Google Shape;225;p19"/>
            <p:cNvSpPr/>
            <p:nvPr/>
          </p:nvSpPr>
          <p:spPr>
            <a:xfrm>
              <a:off x="734938" y="1909847"/>
              <a:ext cx="11075182" cy="354161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1205" l="-165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 txBox="1"/>
          <p:nvPr>
            <p:ph type="title"/>
          </p:nvPr>
        </p:nvSpPr>
        <p:spPr>
          <a:xfrm>
            <a:off x="543731" y="290945"/>
            <a:ext cx="11075181" cy="59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</a:pPr>
            <a:r>
              <a:rPr b="1" i="0" lang="ko-KR" sz="4000" u="none" cap="none" strike="noStrike"/>
              <a:t>레일리-리츠 변분 원리 (2/2)</a:t>
            </a:r>
            <a:endParaRPr/>
          </a:p>
        </p:txBody>
      </p:sp>
      <p:sp>
        <p:nvSpPr>
          <p:cNvPr id="231" name="Google Shape;231;p20"/>
          <p:cNvSpPr txBox="1"/>
          <p:nvPr>
            <p:ph idx="12" type="sldNum"/>
          </p:nvPr>
        </p:nvSpPr>
        <p:spPr>
          <a:xfrm>
            <a:off x="4724400" y="6344415"/>
            <a:ext cx="27432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232" name="Google Shape;232;p20"/>
          <p:cNvGrpSpPr/>
          <p:nvPr/>
        </p:nvGrpSpPr>
        <p:grpSpPr>
          <a:xfrm>
            <a:off x="543731" y="1327487"/>
            <a:ext cx="11075182" cy="3002233"/>
            <a:chOff x="734938" y="2214175"/>
            <a:chExt cx="10502782" cy="3002233"/>
          </a:xfrm>
        </p:grpSpPr>
        <p:sp>
          <p:nvSpPr>
            <p:cNvPr id="233" name="Google Shape;233;p20"/>
            <p:cNvSpPr/>
            <p:nvPr/>
          </p:nvSpPr>
          <p:spPr>
            <a:xfrm>
              <a:off x="734938" y="2214175"/>
              <a:ext cx="10502782" cy="3002233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1626" l="-165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  <p:pic>
          <p:nvPicPr>
            <p:cNvPr id="234" name="Google Shape;234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90774" y="3329474"/>
              <a:ext cx="2391109" cy="77163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 txBox="1"/>
          <p:nvPr>
            <p:ph idx="1" type="body"/>
          </p:nvPr>
        </p:nvSpPr>
        <p:spPr>
          <a:xfrm>
            <a:off x="698501" y="3925723"/>
            <a:ext cx="10795000" cy="449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2025-01-14T02:29:22Z</dcterms:created>
  <dc:creator>MZC01-HYUNHOPART</dc:creator>
</cp:coreProperties>
</file>