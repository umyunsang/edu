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12192000"/>
  <p:notesSz cx="6858000" cy="9144000"/>
  <p:embeddedFontLst>
    <p:embeddedFont>
      <p:font typeface="Noto Sans KR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UDQPaKimj5k3PopojVuoG4xl3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DC3F57-9469-4D72-B3F1-8378A3C5B0A0}">
  <a:tblStyle styleId="{7ADC3F57-9469-4D72-B3F1-8378A3C5B0A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font" Target="fonts/NotoSansKR-regular.fntdata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customschemas.google.com/relationships/presentationmetadata" Target="metadata"/><Relationship Id="rId12" Type="http://schemas.openxmlformats.org/officeDocument/2006/relationships/slide" Target="slides/slide5.xml"/><Relationship Id="rId23" Type="http://schemas.openxmlformats.org/officeDocument/2006/relationships/font" Target="fonts/NotoSansK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200775b63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c200775b63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200775b63_2_183:notes"/>
          <p:cNvSpPr txBox="1"/>
          <p:nvPr>
            <p:ph idx="1" type="body"/>
          </p:nvPr>
        </p:nvSpPr>
        <p:spPr>
          <a:xfrm>
            <a:off x="686120" y="4400401"/>
            <a:ext cx="54858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c200775b63_2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200775b63_2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c200775b63_2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표지 슬라이드">
  <p:cSld name="표지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g3c200775b63_2_31"/>
          <p:cNvPicPr preferRelativeResize="0"/>
          <p:nvPr/>
        </p:nvPicPr>
        <p:blipFill rotWithShape="1">
          <a:blip r:embed="rId2">
            <a:alphaModFix/>
          </a:blip>
          <a:srcRect b="0" l="19465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3c200775b63_2_31"/>
          <p:cNvSpPr txBox="1"/>
          <p:nvPr/>
        </p:nvSpPr>
        <p:spPr>
          <a:xfrm>
            <a:off x="680044" y="6321356"/>
            <a:ext cx="428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8" name="Google Shape;18;g3c200775b63_2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c200775b63_2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c200775b63_2_31"/>
          <p:cNvSpPr txBox="1"/>
          <p:nvPr/>
        </p:nvSpPr>
        <p:spPr>
          <a:xfrm>
            <a:off x="558410" y="3129742"/>
            <a:ext cx="110751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" name="Google Shape;21;g3c200775b63_2_31"/>
          <p:cNvSpPr txBox="1"/>
          <p:nvPr>
            <p:ph idx="1" type="body"/>
          </p:nvPr>
        </p:nvSpPr>
        <p:spPr>
          <a:xfrm>
            <a:off x="4189413" y="4414838"/>
            <a:ext cx="37497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2" name="Google Shape;22;g3c200775b63_2_31"/>
          <p:cNvSpPr txBox="1"/>
          <p:nvPr>
            <p:ph type="title"/>
          </p:nvPr>
        </p:nvSpPr>
        <p:spPr>
          <a:xfrm>
            <a:off x="838200" y="26662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KR"/>
              <a:buNone/>
              <a:defRPr b="0" i="0" sz="4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sz="1801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42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_01">
  <p:cSld name="sub_0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43"/>
          <p:cNvCxnSpPr/>
          <p:nvPr/>
        </p:nvCxnSpPr>
        <p:spPr>
          <a:xfrm>
            <a:off x="543733" y="980623"/>
            <a:ext cx="11082382" cy="0"/>
          </a:xfrm>
          <a:prstGeom prst="straightConnector1">
            <a:avLst/>
          </a:prstGeom>
          <a:noFill/>
          <a:ln cap="flat" cmpd="sng" w="19050">
            <a:solidFill>
              <a:srgbClr val="0A234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1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마지막 슬라이드">
  <p:cSld name="마지막 슬라이드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g3c200775b63_2_69"/>
          <p:cNvPicPr preferRelativeResize="0"/>
          <p:nvPr/>
        </p:nvPicPr>
        <p:blipFill rotWithShape="1">
          <a:blip r:embed="rId2">
            <a:alphaModFix/>
          </a:blip>
          <a:srcRect b="0" l="19465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g3c200775b63_2_69"/>
          <p:cNvSpPr txBox="1"/>
          <p:nvPr/>
        </p:nvSpPr>
        <p:spPr>
          <a:xfrm>
            <a:off x="680044" y="6321356"/>
            <a:ext cx="428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2026 © MegazoneCloud 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4" name="Google Shape;34;g3c200775b63_2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g3c200775b63_2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c200775b63_2_69"/>
          <p:cNvSpPr txBox="1"/>
          <p:nvPr/>
        </p:nvSpPr>
        <p:spPr>
          <a:xfrm>
            <a:off x="558410" y="3129742"/>
            <a:ext cx="110751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Noto Sans KR"/>
              <a:buNone/>
            </a:pPr>
            <a:r>
              <a:t/>
            </a:r>
            <a:endParaRPr b="0" i="0" sz="4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7" name="Google Shape;37;g3c200775b63_2_69"/>
          <p:cNvGrpSpPr/>
          <p:nvPr/>
        </p:nvGrpSpPr>
        <p:grpSpPr>
          <a:xfrm>
            <a:off x="766762" y="2418352"/>
            <a:ext cx="10658400" cy="1039247"/>
            <a:chOff x="766762" y="2416723"/>
            <a:chExt cx="10658400" cy="1039247"/>
          </a:xfrm>
        </p:grpSpPr>
        <p:sp>
          <p:nvSpPr>
            <p:cNvPr id="38" name="Google Shape;38;g3c200775b63_2_69"/>
            <p:cNvSpPr txBox="1"/>
            <p:nvPr/>
          </p:nvSpPr>
          <p:spPr>
            <a:xfrm>
              <a:off x="766762" y="2416723"/>
              <a:ext cx="10658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20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The gateway to all quantum computing technologies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3c200775b63_2_69"/>
            <p:cNvSpPr txBox="1"/>
            <p:nvPr/>
          </p:nvSpPr>
          <p:spPr>
            <a:xfrm>
              <a:off x="766762" y="3086670"/>
              <a:ext cx="1065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B4BFE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Thanks for Attention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" name="Google Shape;40;g3c200775b63_2_69"/>
          <p:cNvSpPr txBox="1"/>
          <p:nvPr>
            <p:ph idx="1" type="body"/>
          </p:nvPr>
        </p:nvSpPr>
        <p:spPr>
          <a:xfrm>
            <a:off x="698501" y="3925723"/>
            <a:ext cx="10794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4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5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" type="body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5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6"/>
          <p:cNvSpPr txBox="1"/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1" type="body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1"/>
              <a:buNone/>
              <a:defRPr sz="1801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46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6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6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7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7"/>
          <p:cNvSpPr txBox="1"/>
          <p:nvPr>
            <p:ph idx="1" type="body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47"/>
          <p:cNvSpPr txBox="1"/>
          <p:nvPr>
            <p:ph idx="2" type="body"/>
          </p:nvPr>
        </p:nvSpPr>
        <p:spPr>
          <a:xfrm>
            <a:off x="6172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47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7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7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/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8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b="1" sz="1801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48"/>
          <p:cNvSpPr txBox="1"/>
          <p:nvPr>
            <p:ph idx="2" type="body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None/>
              <a:defRPr b="1" sz="1801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48"/>
          <p:cNvSpPr txBox="1"/>
          <p:nvPr>
            <p:ph idx="4" type="body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9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0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0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0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1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1"/>
          <p:cNvSpPr txBox="1"/>
          <p:nvPr>
            <p:ph idx="1" type="body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7" name="Google Shape;87;p51"/>
          <p:cNvSpPr txBox="1"/>
          <p:nvPr>
            <p:ph idx="2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1"/>
              <a:buNone/>
              <a:defRPr sz="1401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9pPr>
          </a:lstStyle>
          <a:p/>
        </p:txBody>
      </p:sp>
      <p:sp>
        <p:nvSpPr>
          <p:cNvPr id="88" name="Google Shape;88;p51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1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1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2"/>
          <p:cNvSpPr txBox="1"/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2"/>
          <p:cNvSpPr/>
          <p:nvPr>
            <p:ph idx="2" type="pic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52"/>
          <p:cNvSpPr txBox="1"/>
          <p:nvPr>
            <p:ph idx="1" type="body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1"/>
              <a:buNone/>
              <a:defRPr sz="1401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1"/>
              <a:buNone/>
              <a:defRPr sz="1001"/>
            </a:lvl9pPr>
          </a:lstStyle>
          <a:p/>
        </p:txBody>
      </p:sp>
      <p:sp>
        <p:nvSpPr>
          <p:cNvPr id="95" name="Google Shape;95;p52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2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2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3"/>
          <p:cNvSpPr txBox="1"/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3"/>
          <p:cNvSpPr txBox="1"/>
          <p:nvPr>
            <p:ph idx="1" type="body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53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3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3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 1">
  <p:cSld name="2_제목 및 내용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200775b63_2_104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6" name="Google Shape;106;g3c200775b63_2_104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200775b63_2_158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g3c200775b63_2_158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200775b63_2_155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g3c200775b63_2_155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_02">
  <p:cSld name="sub_0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200775b63_2_161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g3c200775b63_2_161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None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"/>
              <a:buChar char="•"/>
              <a:defRPr b="0" i="0" sz="24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"/>
              <a:buChar char="•"/>
              <a:defRPr b="0" i="0" sz="20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1"/>
          <p:cNvSpPr txBox="1"/>
          <p:nvPr>
            <p:ph idx="1" type="body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63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64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64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64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64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64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1"/>
              <a:buFont typeface="Arial"/>
              <a:buChar char="•"/>
              <a:defRPr b="0" i="0" sz="180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1"/>
          <p:cNvSpPr txBox="1"/>
          <p:nvPr>
            <p:ph idx="10" type="dt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1"/>
          <p:cNvSpPr txBox="1"/>
          <p:nvPr>
            <p:ph idx="11" type="ftr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1"/>
          <p:cNvSpPr txBox="1"/>
          <p:nvPr>
            <p:ph idx="12" type="sldNum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g3c200775b63_2_150"/>
          <p:cNvPicPr preferRelativeResize="0"/>
          <p:nvPr/>
        </p:nvPicPr>
        <p:blipFill rotWithShape="1">
          <a:blip r:embed="rId1">
            <a:alphaModFix/>
          </a:blip>
          <a:srcRect b="0" l="19465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c200775b63_2_150"/>
          <p:cNvSpPr txBox="1"/>
          <p:nvPr/>
        </p:nvSpPr>
        <p:spPr>
          <a:xfrm>
            <a:off x="680044" y="6321356"/>
            <a:ext cx="4287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2025 © MegazoneCloud  CORP. ALL RIGHTS RESERVED.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0" name="Google Shape;110;g3c200775b63_2_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52754" y="6308724"/>
            <a:ext cx="1276753" cy="325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c200775b63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8755" y="494767"/>
            <a:ext cx="1555049" cy="39350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4"/>
    <p:sldLayoutId id="2147483666" r:id="rId5"/>
    <p:sldLayoutId id="2147483667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200775b63_2_0"/>
          <p:cNvSpPr txBox="1"/>
          <p:nvPr>
            <p:ph idx="1" type="body"/>
          </p:nvPr>
        </p:nvSpPr>
        <p:spPr>
          <a:xfrm>
            <a:off x="4189413" y="4414838"/>
            <a:ext cx="37497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120"/>
              <a:buFont typeface="Arial"/>
              <a:buNone/>
            </a:pPr>
            <a:r>
              <a:rPr lang="en-US" sz="1800"/>
              <a:t>Yousung Kang, </a:t>
            </a:r>
            <a:r>
              <a:rPr lang="en-US" sz="1800">
                <a:solidFill>
                  <a:srgbClr val="00B0F0"/>
                </a:solidFill>
              </a:rPr>
              <a:t>yskang@megazone.com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120"/>
              <a:buNone/>
            </a:pPr>
            <a:r>
              <a:rPr lang="en-US" sz="1800"/>
              <a:t>Quantum Innovation Lab</a:t>
            </a:r>
            <a:endParaRPr/>
          </a:p>
        </p:txBody>
      </p:sp>
      <p:sp>
        <p:nvSpPr>
          <p:cNvPr id="126" name="Google Shape;126;g3c200775b63_2_0"/>
          <p:cNvSpPr txBox="1"/>
          <p:nvPr>
            <p:ph type="title"/>
          </p:nvPr>
        </p:nvSpPr>
        <p:spPr>
          <a:xfrm>
            <a:off x="838200" y="26662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Noto Sans KR"/>
              <a:buNone/>
            </a:pPr>
            <a:r>
              <a:rPr lang="en-US"/>
              <a:t>양자클라우드 Braket 기초 사용법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현재　버전은　ＫＩＳＴＩ　용으로만　제작／　클라우드　서비스　안내는　타겟　교육　대상에　따라　변경　필요（ＩｏｎＱ　집중／ＡＷＳ　소개　등）</a:t>
            </a:r>
            <a:endParaRPr/>
          </a:p>
        </p:txBody>
      </p:sp>
      <p:graphicFrame>
        <p:nvGraphicFramePr>
          <p:cNvPr id="132" name="Google Shape;132;p2"/>
          <p:cNvGraphicFramePr/>
          <p:nvPr/>
        </p:nvGraphicFramePr>
        <p:xfrm>
          <a:off x="1668556" y="10056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{7ADC3F57-9469-4D72-B3F1-8378A3C5B0A0}</a:tableStyleId>
              </a:tblPr>
              <a:tblGrid>
                <a:gridCol w="2590800"/>
                <a:gridCol w="5505450"/>
                <a:gridCol w="7239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고려 요소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강의 목적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AWS Braket을 통한 양자컴퓨팅 사용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예상 청중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양자컴퓨팅을 처음 접하는 사람</a:t>
                      </a:r>
                      <a:endParaRPr b="0" i="0" sz="1801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1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AWS에 대한 지식이 전무한 사람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 강의 내용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AWS Braket을 통한 양자컴퓨팅 사용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노트북 생성 및 간단한 회로 작성</a:t>
                      </a:r>
                      <a:endParaRPr sz="1400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DD4E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예상 소요시간 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</a:t>
                      </a:r>
                      <a:endParaRPr sz="1801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1"/>
                        <a:buFont typeface="Arial"/>
                        <a:buNone/>
                      </a:pPr>
                      <a:r>
                        <a:rPr lang="en-US" sz="1801" u="none" cap="none" strike="noStrike"/>
                        <a:t> </a:t>
                      </a:r>
                      <a:endParaRPr sz="1400" u="none" cap="none" strike="noStrike"/>
                    </a:p>
                  </a:txBody>
                  <a:tcPr marT="47625" marB="47625" marR="95250" marL="95250" anchor="ctr">
                    <a:lnL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6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2"/>
          <p:cNvSpPr/>
          <p:nvPr/>
        </p:nvSpPr>
        <p:spPr>
          <a:xfrm>
            <a:off x="1685925" y="2066925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AWS Braket 대시보드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9" name="Google Shape;13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1063" y="1123046"/>
            <a:ext cx="7789875" cy="5492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AWS Braket 디바이스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45" name="Google Shape;145;p1"/>
          <p:cNvGrpSpPr/>
          <p:nvPr/>
        </p:nvGrpSpPr>
        <p:grpSpPr>
          <a:xfrm>
            <a:off x="1073007" y="1221712"/>
            <a:ext cx="10045985" cy="5418955"/>
            <a:chOff x="1073007" y="1221712"/>
            <a:chExt cx="10045985" cy="5418955"/>
          </a:xfrm>
        </p:grpSpPr>
        <p:grpSp>
          <p:nvGrpSpPr>
            <p:cNvPr id="146" name="Google Shape;146;p1"/>
            <p:cNvGrpSpPr/>
            <p:nvPr/>
          </p:nvGrpSpPr>
          <p:grpSpPr>
            <a:xfrm>
              <a:off x="1073007" y="1221712"/>
              <a:ext cx="10045985" cy="5418955"/>
              <a:chOff x="460406" y="1032419"/>
              <a:chExt cx="10799812" cy="5825581"/>
            </a:xfrm>
          </p:grpSpPr>
          <p:pic>
            <p:nvPicPr>
              <p:cNvPr id="147" name="Google Shape;147;p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60406" y="1032420"/>
                <a:ext cx="8221191" cy="5825580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pic>
            <p:nvPicPr>
              <p:cNvPr id="148" name="Google Shape;148;p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804689" y="1032419"/>
                <a:ext cx="2455529" cy="5825581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sp>
          <p:nvSpPr>
            <p:cNvPr id="149" name="Google Shape;149;p1"/>
            <p:cNvSpPr/>
            <p:nvPr/>
          </p:nvSpPr>
          <p:spPr>
            <a:xfrm>
              <a:off x="7267966" y="1265068"/>
              <a:ext cx="649500" cy="13860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AWS 마켓플레이스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5" name="Google Shape;15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5378" y="1522007"/>
            <a:ext cx="7681244" cy="495624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4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AWS IonQ 디바이스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1" name="Google Shape;16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6501" y="1107871"/>
            <a:ext cx="7758998" cy="565644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5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IonQ 클라우드 백엔드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67" name="Google Shape;167;p55"/>
          <p:cNvGrpSpPr/>
          <p:nvPr/>
        </p:nvGrpSpPr>
        <p:grpSpPr>
          <a:xfrm>
            <a:off x="552809" y="1199977"/>
            <a:ext cx="11086383" cy="5482816"/>
            <a:chOff x="161468" y="1112620"/>
            <a:chExt cx="11617293" cy="5745380"/>
          </a:xfrm>
        </p:grpSpPr>
        <p:pic>
          <p:nvPicPr>
            <p:cNvPr id="168" name="Google Shape;168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1468" y="1117600"/>
              <a:ext cx="8050147" cy="57404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69" name="Google Shape;169;p5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384012" y="1112620"/>
              <a:ext cx="3394749" cy="574538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6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IonQ 클라우드 하드웨어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5" name="Google Shape;17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8402" y="1515399"/>
            <a:ext cx="6570075" cy="459525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56"/>
          <p:cNvSpPr txBox="1"/>
          <p:nvPr/>
        </p:nvSpPr>
        <p:spPr>
          <a:xfrm>
            <a:off x="548324" y="1812119"/>
            <a:ext cx="38949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높은 정확도:</a:t>
            </a:r>
            <a:r>
              <a:rPr i="0" lang="en-US" sz="15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i="0" sz="15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긴 </a:t>
            </a:r>
            <a:r>
              <a:rPr lang="en-US" sz="15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결맞음 시간</a:t>
            </a:r>
            <a:r>
              <a:rPr i="0" lang="en-US" sz="15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(Coherence time)</a:t>
            </a:r>
            <a:endParaRPr i="0" sz="15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i="0" lang="en-US" sz="15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5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완전 연결성(All-to-All Connectivity):</a:t>
            </a:r>
            <a:r>
              <a:rPr i="0" lang="en-US" sz="15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i="0" sz="15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큐비트끼리 직접 연결 가능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7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AWS Braket 노트북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82" name="Google Shape;18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5888" y="3228191"/>
            <a:ext cx="7221305" cy="262164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3" name="Google Shape;183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446" y="3228191"/>
            <a:ext cx="1968442" cy="2621648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4" name="Google Shape;184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446" y="1364249"/>
            <a:ext cx="11297108" cy="186394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8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AWS Braket 노트북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90" name="Google Shape;19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3088" y="1106900"/>
            <a:ext cx="7645823" cy="55526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9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노트북 사용 종료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96" name="Google Shape;196;p59"/>
          <p:cNvGrpSpPr/>
          <p:nvPr/>
        </p:nvGrpSpPr>
        <p:grpSpPr>
          <a:xfrm>
            <a:off x="238354" y="1299512"/>
            <a:ext cx="11715293" cy="2165840"/>
            <a:chOff x="0" y="1299574"/>
            <a:chExt cx="12192000" cy="2254205"/>
          </a:xfrm>
        </p:grpSpPr>
        <p:pic>
          <p:nvPicPr>
            <p:cNvPr id="197" name="Google Shape;197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299574"/>
              <a:ext cx="12192000" cy="2254205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98" name="Google Shape;198;p59"/>
            <p:cNvSpPr/>
            <p:nvPr/>
          </p:nvSpPr>
          <p:spPr>
            <a:xfrm>
              <a:off x="9908931" y="2338754"/>
              <a:ext cx="342900" cy="202223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3900" lIns="87850" spcFirstLastPara="1" rIns="87850" wrap="square" tIns="43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4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200775b63_2_183"/>
          <p:cNvSpPr txBox="1"/>
          <p:nvPr>
            <p:ph type="title"/>
          </p:nvPr>
        </p:nvSpPr>
        <p:spPr>
          <a:xfrm>
            <a:off x="838200" y="413616"/>
            <a:ext cx="105156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KR"/>
              <a:buNone/>
            </a:pPr>
            <a:r>
              <a:rPr b="1" lang="en-US"/>
              <a:t>Run the code-GHZ state</a:t>
            </a:r>
            <a:endParaRPr b="1"/>
          </a:p>
        </p:txBody>
      </p:sp>
      <p:sp>
        <p:nvSpPr>
          <p:cNvPr id="204" name="Google Shape;204;g3c200775b63_2_183"/>
          <p:cNvSpPr txBox="1"/>
          <p:nvPr>
            <p:ph idx="1" type="body"/>
          </p:nvPr>
        </p:nvSpPr>
        <p:spPr>
          <a:xfrm>
            <a:off x="838200" y="1474932"/>
            <a:ext cx="10515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200775b63_2_39"/>
          <p:cNvSpPr txBox="1"/>
          <p:nvPr>
            <p:ph idx="1" type="body"/>
          </p:nvPr>
        </p:nvSpPr>
        <p:spPr>
          <a:xfrm>
            <a:off x="698501" y="3925723"/>
            <a:ext cx="10794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0"/>
          <p:cNvSpPr txBox="1"/>
          <p:nvPr/>
        </p:nvSpPr>
        <p:spPr>
          <a:xfrm>
            <a:off x="548329" y="457595"/>
            <a:ext cx="110865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내부 확인용-GHZ code(발표시 AWS상에서 실행)</a:t>
            </a:r>
            <a:endParaRPr b="1" i="0" sz="2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15" name="Google Shape;21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5491" y="1191607"/>
            <a:ext cx="8061018" cy="5358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2025-01-14T02:29:22Z</dcterms:created>
  <dc:creator>MZC01-HYUNHOPART</dc:creator>
</cp:coreProperties>
</file>