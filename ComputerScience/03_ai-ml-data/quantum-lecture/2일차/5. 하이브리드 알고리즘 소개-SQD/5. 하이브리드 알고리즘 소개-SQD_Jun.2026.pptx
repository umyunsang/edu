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3" r:id="rId6"/>
    <p:sldMasterId id="214748366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6858000" cx="12192000"/>
  <p:notesSz cx="6858000" cy="9144000"/>
  <p:embeddedFontLst>
    <p:embeddedFont>
      <p:font typeface="Noto Sans KR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ZkfrDmAjjdCCDxtLHPAjMpelO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2C98C3-2599-4054-95D4-218A6D0F31FD}">
  <a:tblStyle styleId="{8E2C98C3-2599-4054-95D4-218A6D0F31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85E98AF-FE03-4A7D-83A7-68E2E35167E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KR-bold.fntdata"/><Relationship Id="rId20" Type="http://schemas.openxmlformats.org/officeDocument/2006/relationships/slide" Target="slides/slide12.xml"/><Relationship Id="rId41" Type="http://customschemas.google.com/relationships/presentationmetadata" Target="metadata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font" Target="fonts/NotoSansKR-regular.fntdata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200775b63_2_145:notes"/>
          <p:cNvSpPr txBox="1"/>
          <p:nvPr>
            <p:ph idx="1" type="body"/>
          </p:nvPr>
        </p:nvSpPr>
        <p:spPr>
          <a:xfrm>
            <a:off x="686120" y="4400401"/>
            <a:ext cx="54858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c200775b63_2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200775b63_2_183:notes"/>
          <p:cNvSpPr txBox="1"/>
          <p:nvPr>
            <p:ph idx="1" type="body"/>
          </p:nvPr>
        </p:nvSpPr>
        <p:spPr>
          <a:xfrm>
            <a:off x="686120" y="4400401"/>
            <a:ext cx="54858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c200775b63_2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251c80548_0_0:notes"/>
          <p:cNvSpPr txBox="1"/>
          <p:nvPr>
            <p:ph idx="1" type="body"/>
          </p:nvPr>
        </p:nvSpPr>
        <p:spPr>
          <a:xfrm>
            <a:off x="686120" y="4400401"/>
            <a:ext cx="54858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c251c8054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2:notes"/>
          <p:cNvSpPr txBox="1"/>
          <p:nvPr>
            <p:ph idx="1" type="body"/>
          </p:nvPr>
        </p:nvSpPr>
        <p:spPr>
          <a:xfrm>
            <a:off x="686120" y="4400401"/>
            <a:ext cx="54858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200775b63_2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c200775b63_2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 슬라이드">
  <p:cSld name="표지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c200775b63_2_31"/>
          <p:cNvPicPr preferRelativeResize="0"/>
          <p:nvPr/>
        </p:nvPicPr>
        <p:blipFill rotWithShape="1">
          <a:blip r:embed="rId2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c200775b63_2_31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" name="Google Shape;18;g3c200775b63_2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c200775b63_2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c200775b63_2_31"/>
          <p:cNvSpPr txBox="1"/>
          <p:nvPr/>
        </p:nvSpPr>
        <p:spPr>
          <a:xfrm>
            <a:off x="558410" y="3129742"/>
            <a:ext cx="110751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" name="Google Shape;21;g3c200775b63_2_31"/>
          <p:cNvSpPr txBox="1"/>
          <p:nvPr>
            <p:ph idx="1" type="body"/>
          </p:nvPr>
        </p:nvSpPr>
        <p:spPr>
          <a:xfrm>
            <a:off x="4189413" y="4414838"/>
            <a:ext cx="3749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2" name="Google Shape;22;g3c200775b63_2_31"/>
          <p:cNvSpPr txBox="1"/>
          <p:nvPr>
            <p:ph type="title"/>
          </p:nvPr>
        </p:nvSpPr>
        <p:spPr>
          <a:xfrm>
            <a:off x="838200" y="2666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  <a:defRPr b="0" i="0" sz="4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_01">
  <p:cSld name="sub_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43"/>
          <p:cNvCxnSpPr/>
          <p:nvPr/>
        </p:nvCxnSpPr>
        <p:spPr>
          <a:xfrm>
            <a:off x="543733" y="980623"/>
            <a:ext cx="11082382" cy="0"/>
          </a:xfrm>
          <a:prstGeom prst="straightConnector1">
            <a:avLst/>
          </a:prstGeom>
          <a:noFill/>
          <a:ln cap="flat" cmpd="sng" w="19050">
            <a:solidFill>
              <a:srgbClr val="0A234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1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마지막 슬라이드">
  <p:cSld name="마지막 슬라이드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g3c200775b63_2_69"/>
          <p:cNvPicPr preferRelativeResize="0"/>
          <p:nvPr/>
        </p:nvPicPr>
        <p:blipFill rotWithShape="1">
          <a:blip r:embed="rId2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c200775b63_2_69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" name="Google Shape;28;g3c200775b63_2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g3c200775b63_2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g3c200775b63_2_69"/>
          <p:cNvSpPr txBox="1"/>
          <p:nvPr/>
        </p:nvSpPr>
        <p:spPr>
          <a:xfrm>
            <a:off x="558410" y="3129742"/>
            <a:ext cx="110751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1" name="Google Shape;31;g3c200775b63_2_69"/>
          <p:cNvGrpSpPr/>
          <p:nvPr/>
        </p:nvGrpSpPr>
        <p:grpSpPr>
          <a:xfrm>
            <a:off x="766762" y="2418352"/>
            <a:ext cx="10658400" cy="1039247"/>
            <a:chOff x="766762" y="2416723"/>
            <a:chExt cx="10658400" cy="1039247"/>
          </a:xfrm>
        </p:grpSpPr>
        <p:sp>
          <p:nvSpPr>
            <p:cNvPr id="32" name="Google Shape;32;g3c200775b63_2_69"/>
            <p:cNvSpPr txBox="1"/>
            <p:nvPr/>
          </p:nvSpPr>
          <p:spPr>
            <a:xfrm>
              <a:off x="766762" y="2416723"/>
              <a:ext cx="1065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The gateway to all quantum computing technologies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c200775b63_2_69"/>
            <p:cNvSpPr txBox="1"/>
            <p:nvPr/>
          </p:nvSpPr>
          <p:spPr>
            <a:xfrm>
              <a:off x="766762" y="3086670"/>
              <a:ext cx="1065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B4BFE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Thanks for Attention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c200775b63_2_69"/>
          <p:cNvSpPr txBox="1"/>
          <p:nvPr>
            <p:ph idx="1" type="body"/>
          </p:nvPr>
        </p:nvSpPr>
        <p:spPr>
          <a:xfrm>
            <a:off x="698501" y="3925723"/>
            <a:ext cx="10794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" type="body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5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6"/>
          <p:cNvSpPr txBox="1"/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" type="body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1"/>
              <a:buNone/>
              <a:defRPr sz="180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46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" type="body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2" type="body"/>
          </p:nvPr>
        </p:nvSpPr>
        <p:spPr>
          <a:xfrm>
            <a:off x="6172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 txBox="1"/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48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48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9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1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idx="1" type="body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51"/>
          <p:cNvSpPr txBox="1"/>
          <p:nvPr>
            <p:ph idx="2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82" name="Google Shape;82;p5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2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2"/>
          <p:cNvSpPr/>
          <p:nvPr>
            <p:ph idx="2" type="pic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52"/>
          <p:cNvSpPr txBox="1"/>
          <p:nvPr>
            <p:ph idx="1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89" name="Google Shape;89;p5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3"/>
          <p:cNvSpPr txBox="1"/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3"/>
          <p:cNvSpPr txBox="1"/>
          <p:nvPr>
            <p:ph idx="1" type="body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3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3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 1">
  <p:cSld name="2_제목 및 내용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00775b63_2_104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0" name="Google Shape;100;g3c200775b63_2_104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2_제목 및 내용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200775b63_2_158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g3c200775b63_2_158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200775b63_2_155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g3c200775b63_2_155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_02">
  <p:cSld name="sub_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200775b63_2_161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g3c200775b63_2_161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2_제목 및 내용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00775b63_2_196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c200775b63_2_196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200775b63_2_193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c200775b63_2_193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_02">
  <p:cSld name="sub_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200775b63_2_199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g3c200775b63_2_199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63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64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64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64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64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64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c200775b63_2_150"/>
          <p:cNvPicPr preferRelativeResize="0"/>
          <p:nvPr/>
        </p:nvPicPr>
        <p:blipFill rotWithShape="1">
          <a:blip r:embed="rId1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c200775b63_2_150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2025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4" name="Google Shape;104;g3c200775b63_2_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c200775b63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4"/>
    <p:sldLayoutId id="2147483665" r:id="rId5"/>
    <p:sldLayoutId id="214748366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c200775b63_2_188"/>
          <p:cNvPicPr preferRelativeResize="0"/>
          <p:nvPr/>
        </p:nvPicPr>
        <p:blipFill rotWithShape="1">
          <a:blip r:embed="rId1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c200775b63_2_188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2025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8" name="Google Shape;118;g3c200775b63_2_1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c200775b63_2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4"/>
    <p:sldLayoutId id="2147483669" r:id="rId5"/>
    <p:sldLayoutId id="214748367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gif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 txBox="1"/>
          <p:nvPr>
            <p:ph idx="1" type="body"/>
          </p:nvPr>
        </p:nvSpPr>
        <p:spPr>
          <a:xfrm>
            <a:off x="4189413" y="4414838"/>
            <a:ext cx="3749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120"/>
              <a:buFont typeface="Arial"/>
              <a:buNone/>
            </a:pPr>
            <a:r>
              <a:rPr lang="en-US" sz="1800"/>
              <a:t>Yousung Kang, </a:t>
            </a:r>
            <a:r>
              <a:rPr lang="en-US" sz="1800">
                <a:solidFill>
                  <a:srgbClr val="00B0F0"/>
                </a:solidFill>
              </a:rPr>
              <a:t>yskang@megazone.com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120"/>
              <a:buNone/>
            </a:pPr>
            <a:r>
              <a:rPr lang="en-US" sz="1800"/>
              <a:t>Quantum Innovation Lab</a:t>
            </a:r>
            <a:endParaRPr/>
          </a:p>
        </p:txBody>
      </p:sp>
      <p:sp>
        <p:nvSpPr>
          <p:cNvPr id="134" name="Google Shape;134;p1"/>
          <p:cNvSpPr txBox="1"/>
          <p:nvPr>
            <p:ph type="title"/>
          </p:nvPr>
        </p:nvSpPr>
        <p:spPr>
          <a:xfrm>
            <a:off x="838200" y="2666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</a:pPr>
            <a:r>
              <a:rPr lang="en-US"/>
              <a:t>Sample-Based Quantum Diagonalization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35"/>
          <p:cNvGraphicFramePr/>
          <p:nvPr/>
        </p:nvGraphicFramePr>
        <p:xfrm>
          <a:off x="1685925" y="1960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{8E2C98C3-2599-4054-95D4-218A6D0F31FD}</a:tableStyleId>
              </a:tblPr>
              <a:tblGrid>
                <a:gridCol w="2590800"/>
                <a:gridCol w="55054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고려 요소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강의 목적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/>
                        <a:t>Sampling 기반 알고리즘의 이해</a:t>
                      </a:r>
                      <a:endParaRPr sz="1400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0" i="0" lang="en-US" sz="1801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예상 청중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양자화학 문제에 대한 기초적 지식 보유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양자컴퓨팅에 대한 중급 지식 보유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선행학습🡪VQA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0" i="0" lang="en-US" sz="1801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 강의 내용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양자화학 문제에 대한 이해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Classical CI 및 QSCI SQD에 대한 이해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0" i="0" lang="en-US" sz="1801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예상 소요시간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1시간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0" i="0" lang="en-US" sz="1801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200775b63_2_145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</a:pPr>
            <a:r>
              <a:rPr b="1" lang="en-US"/>
              <a:t>INDEX</a:t>
            </a:r>
            <a:endParaRPr b="1"/>
          </a:p>
        </p:txBody>
      </p:sp>
      <p:sp>
        <p:nvSpPr>
          <p:cNvPr id="145" name="Google Shape;145;g3c200775b63_2_145"/>
          <p:cNvSpPr txBox="1"/>
          <p:nvPr>
            <p:ph idx="1" type="body"/>
          </p:nvPr>
        </p:nvSpPr>
        <p:spPr>
          <a:xfrm>
            <a:off x="838200" y="1474932"/>
            <a:ext cx="105156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AutoNum type="arabicPeriod"/>
            </a:pPr>
            <a:r>
              <a:rPr b="1" lang="en-US" sz="2400"/>
              <a:t>Configuration Interaction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AutoNum type="arabicPeriod"/>
            </a:pPr>
            <a:r>
              <a:rPr b="1" lang="en-US" sz="2400"/>
              <a:t>Quantum Selected Configuration Interaction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AutoNum type="arabicPeriod"/>
            </a:pPr>
            <a:r>
              <a:rPr b="1" lang="en-US" sz="2400"/>
              <a:t>Sample-Based Quantum Diagonalization</a:t>
            </a:r>
            <a:endParaRPr b="1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200775b63_2_183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</a:pPr>
            <a:r>
              <a:rPr b="1" lang="en-US"/>
              <a:t>1. Configuration Interaction</a:t>
            </a:r>
            <a:endParaRPr b="1"/>
          </a:p>
        </p:txBody>
      </p:sp>
      <p:sp>
        <p:nvSpPr>
          <p:cNvPr id="151" name="Google Shape;151;g3c200775b63_2_183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Problem Define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30656" y="5831037"/>
            <a:ext cx="9740193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개별 전자는 동일한 오비탈에 최대 2개까지 존재할 수 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9.7: Molecular Orbitals - Chemistry LibreTexts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56" y="1770106"/>
            <a:ext cx="7027944" cy="2628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진 설명이 없습니다."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1614" y="1222577"/>
            <a:ext cx="3723215" cy="372321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630656" y="5085149"/>
            <a:ext cx="9740193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전자의 궤도는 여러 오비탈의 선형 합으로 표현할 수 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VQE Review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62250" r="0" t="-857"/>
          <a:stretch/>
        </p:blipFill>
        <p:spPr>
          <a:xfrm>
            <a:off x="548329" y="1489244"/>
            <a:ext cx="4602480" cy="473295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4989454" y="2952933"/>
            <a:ext cx="6645375" cy="3108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VQE: 우리가 찾고 싶은 최소 에너지 값이 존재한다.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🡪수많은 파동함수를 계산하면 그것 중 최솟값이 우리가 원하는 참값</a:t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4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VQE의 한계 (Barren Plateaus, 실제 전자 에너지 분포)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3" name="Google Shape;17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9101" y="1437701"/>
            <a:ext cx="6306608" cy="398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292" y="981110"/>
            <a:ext cx="5112808" cy="489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4"/>
          <p:cNvSpPr txBox="1"/>
          <p:nvPr/>
        </p:nvSpPr>
        <p:spPr>
          <a:xfrm>
            <a:off x="139700" y="6031073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McClean, J.R., Boixo, S., Smelyanskiy, V.N. </a:t>
            </a:r>
            <a:r>
              <a:rPr b="0" i="1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et al.</a:t>
            </a:r>
            <a:r>
              <a:rPr b="0" i="0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 Barren plateaus in quantum neural network training landscapes. </a:t>
            </a:r>
            <a:r>
              <a:rPr b="0" i="1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Nat Commun</a:t>
            </a:r>
            <a:r>
              <a:rPr b="0" i="0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 </a:t>
            </a:r>
            <a:r>
              <a:rPr b="1" i="0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r>
              <a:rPr b="0" i="0" lang="en-US" sz="1400" u="none" cap="none" strike="noStrik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, 4812 (2018). https://doi.org/10.1038/s41467-018-07090-4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5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(Electron) Configuration Interaction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55"/>
          <p:cNvSpPr txBox="1"/>
          <p:nvPr/>
        </p:nvSpPr>
        <p:spPr>
          <a:xfrm>
            <a:off x="760834" y="1695895"/>
            <a:ext cx="6821065" cy="5632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Pauli Exclusion Principle: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동일한 스핀의 전자는 동일 오비탈에 최대 1개까지만 존재할 수 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🡪잘 정의된 오비탈이 있다면,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에너지를 구하는 문제는 주어진 오비탈에 대해 전자가 배치되어 있을 때 에너지를 구하고,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최소화하는 전자배치를 찾는 문제로 바뀐다.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(조합 최적화 문제)</a:t>
            </a:r>
            <a:endParaRPr b="1" i="0" sz="2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사진 설명이 없습니다." id="182" name="Google Shape;18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9485" y="1695895"/>
            <a:ext cx="3915344" cy="391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6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Example: N2 molecule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56"/>
          <p:cNvSpPr txBox="1"/>
          <p:nvPr/>
        </p:nvSpPr>
        <p:spPr>
          <a:xfrm>
            <a:off x="3487109" y="5095638"/>
            <a:ext cx="6484020" cy="2677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N2 atom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(5 active electrons, 10 active orbitals)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🡪(10C5)^2=63504 determianats</a:t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9" name="Google Shape;18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7109" y="1241657"/>
            <a:ext cx="4929229" cy="3853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Example: Fe4S4 Cluster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oposed reaction pathway of CO2 reduction catalysed by the [Fe4S4] cluster&#10;Shown is the energetically plausible pathway derived from DFT calculations. Cluster ligand (–SR, SC2H4OH⁻ or HSR, HSC2H4OH) is indicated as needed for the purpose of simplicity. The calculated reaction energy (kcal mol–1) is indicated for each step (above or next to the arrow). a, Coordination of CO2 to a [Fe4S4]⁰ cluster and release of CO upon reduction of CO2. b, Reduction of a [Fe4S4]⁺-cluster-bound CO moiety to CH4 via the formation of an aldehyde-like intermediate. c, Formation of a C–C bond via migratory insertion that involves a [Fe4S4]⁺-cluster-bound CH3 species and a second CO molecule coordinated to the same Fe atom. See Supplementary Figs. 8a and 9a for the transition state and energy landscape of the proposed mechanism. TS, transition state.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29" y="1082675"/>
            <a:ext cx="7528871" cy="532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/>
          <p:nvPr/>
        </p:nvSpPr>
        <p:spPr>
          <a:xfrm>
            <a:off x="825500" y="6381702"/>
            <a:ext cx="109347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Stiebritz, Martin &amp; Hiller, Caleb &amp; Sickerman, Nathaniel &amp; Lee, Chi &amp; Tanifuji, Kazuki &amp; Ohki, Yasuhiro &amp; Hu, Yilin. (2018). Ambient conversion of CO2 to hydrocarbons by biogenic and synthetic [Fe4S4] clusters. Nature Catalysis. 1. 10.1038/s41929-018-0079-4.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8178799" y="2605030"/>
            <a:ext cx="3858571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Fe4S4 Cluster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(30 active electrons, 60 active orbitals)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🡪(30C15)^2=2.4e+16 determianats</a:t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(eigenvalues)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Exponential Increase of Slater Determinant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674" y="1164476"/>
            <a:ext cx="11312652" cy="50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251c80548_0_0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</a:pPr>
            <a:r>
              <a:rPr b="1" lang="en-US"/>
              <a:t>2. Quantum Selected Configuration Interaction</a:t>
            </a:r>
            <a:endParaRPr b="1"/>
          </a:p>
        </p:txBody>
      </p:sp>
      <p:sp>
        <p:nvSpPr>
          <p:cNvPr id="209" name="Google Shape;209;g3c251c80548_0_0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7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From FCI to SCI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5" name="Google Shape;2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11651"/>
            <a:ext cx="10287000" cy="5442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8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Qubit Bitstring Mapping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21" name="Google Shape;22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2014" y="1193302"/>
            <a:ext cx="8647971" cy="529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9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Born Rule of QSCI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27" name="Google Shape;2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14" y="1361785"/>
            <a:ext cx="10715774" cy="5038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412" y="4813300"/>
            <a:ext cx="6539751" cy="847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0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Quantum Sampling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4" name="Google Shape;23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50" y="1342998"/>
            <a:ext cx="11188700" cy="531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1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Subspace Projected Hamiltonian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40" name="Google Shape;24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749" y="1541850"/>
            <a:ext cx="11086502" cy="507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2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</a:pPr>
            <a:r>
              <a:rPr b="1" lang="en-US"/>
              <a:t>3. Sample-Based Quantum Diagonalization</a:t>
            </a:r>
            <a:endParaRPr b="1"/>
          </a:p>
        </p:txBody>
      </p:sp>
      <p:sp>
        <p:nvSpPr>
          <p:cNvPr id="246" name="Google Shape;246;p62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3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NISQ Algorithms (After 24’)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52" name="Google Shape;252;p63"/>
          <p:cNvGraphicFramePr/>
          <p:nvPr/>
        </p:nvGraphicFramePr>
        <p:xfrm>
          <a:off x="548329" y="123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{485E98AF-FE03-4A7D-83A7-68E2E35167EB}</a:tableStyleId>
              </a:tblPr>
              <a:tblGrid>
                <a:gridCol w="613725"/>
                <a:gridCol w="5143500"/>
                <a:gridCol w="4758375"/>
              </a:tblGrid>
              <a:tr h="22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1" lang="en-US" sz="1801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얕은 회로 (Shallow Circuits)</a:t>
                      </a:r>
                      <a:endParaRPr sz="1801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t/>
                      </a:r>
                      <a:endParaRPr sz="1801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>
                          <a:solidFill>
                            <a:srgbClr val="00B0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400" u="none" cap="none" strike="noStrike">
                        <a:solidFill>
                          <a:srgbClr val="00B0F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1" lang="en-US" sz="1801" u="none" cap="none" strike="noStrike">
                          <a:solidFill>
                            <a:srgbClr val="00B0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하이브리드 구조 (Hybrid Quantum-Classical)</a:t>
                      </a:r>
                      <a:endParaRPr sz="1801" u="none" cap="none" strike="noStrike">
                        <a:solidFill>
                          <a:srgbClr val="00B0F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t/>
                      </a:r>
                      <a:endParaRPr sz="1801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1" lang="en-US" sz="1801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변분 원리 (Variational Principle)</a:t>
                      </a:r>
                      <a:endParaRPr sz="1801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t/>
                      </a:r>
                      <a:endParaRPr sz="1801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1" lang="en-US" sz="1801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노이즈 강인성 (Noise Resilience)</a:t>
                      </a:r>
                      <a:endParaRPr sz="1801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t/>
                      </a:r>
                      <a:endParaRPr sz="1801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>
                          <a:solidFill>
                            <a:srgbClr val="00B0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sz="1400" u="none" cap="none" strike="noStrike">
                        <a:solidFill>
                          <a:srgbClr val="00B0F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1" lang="en-US" sz="1801" u="none" cap="none" strike="noStrike">
                          <a:solidFill>
                            <a:srgbClr val="00B0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측정 효율성 (Measurement Frugal)</a:t>
                      </a:r>
                      <a:endParaRPr sz="1801" u="none" cap="none" strike="noStrike">
                        <a:solidFill>
                          <a:srgbClr val="00B0F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t/>
                      </a:r>
                      <a:endParaRPr sz="1801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b="1" lang="en-US" sz="1801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문제 맞춤형 (Problem-Inspired)</a:t>
                      </a:r>
                      <a:endParaRPr sz="1801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t/>
                      </a:r>
                      <a:endParaRPr sz="1801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63"/>
          <p:cNvSpPr txBox="1"/>
          <p:nvPr/>
        </p:nvSpPr>
        <p:spPr>
          <a:xfrm>
            <a:off x="6399317" y="1162431"/>
            <a:ext cx="5235511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B0F0"/>
                </a:solidFill>
                <a:latin typeface="Noto Sans KR"/>
                <a:ea typeface="Noto Sans KR"/>
                <a:cs typeface="Noto Sans KR"/>
                <a:sym typeface="Noto Sans KR"/>
              </a:rPr>
              <a:t>QSCI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B0F0"/>
                </a:solidFill>
                <a:latin typeface="Noto Sans KR"/>
                <a:ea typeface="Noto Sans KR"/>
                <a:cs typeface="Noto Sans KR"/>
                <a:sym typeface="Noto Sans KR"/>
              </a:rPr>
              <a:t>SQD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QC-AFQMC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Quantum Krylov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/>
        </p:nvSpPr>
        <p:spPr>
          <a:xfrm>
            <a:off x="484292" y="1243644"/>
            <a:ext cx="10073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Sample-Based Quantum Diagonalization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60" name="Google Shape;260;p16"/>
          <p:cNvPicPr preferRelativeResize="0"/>
          <p:nvPr/>
        </p:nvPicPr>
        <p:blipFill rotWithShape="1">
          <a:blip r:embed="rId3">
            <a:alphaModFix/>
          </a:blip>
          <a:srcRect b="2940" l="781" r="-125" t="15967"/>
          <a:stretch/>
        </p:blipFill>
        <p:spPr>
          <a:xfrm>
            <a:off x="601326" y="1243644"/>
            <a:ext cx="10989348" cy="5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Qubit Bitstring Mapping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66" name="Google Shape;2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2014" y="1193302"/>
            <a:ext cx="8647971" cy="529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4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Hamiltonian Define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72" name="Google Shape;27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113" y="1411700"/>
            <a:ext cx="11705774" cy="45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5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LUCJ Ansatz 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78" name="Google Shape;27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50" y="1163100"/>
            <a:ext cx="11741501" cy="436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6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Symmetry-based postselection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4" name="Google Shape;28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64" y="1095575"/>
            <a:ext cx="11643673" cy="540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7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Self-Consistent Recovery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90" name="Google Shape;29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849" y="1123000"/>
            <a:ext cx="11814302" cy="52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Quantum Chemistry Algorithms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96" name="Google Shape;2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487" y="1294975"/>
            <a:ext cx="11775026" cy="52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8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SQD Workflow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02" name="Google Shape;30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88" y="1266075"/>
            <a:ext cx="11843425" cy="53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9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Result of SQD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08" name="Google Shape;30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288" y="1165750"/>
            <a:ext cx="11265423" cy="5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0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Hybrid Workflow: QPU-HPC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14" name="Google Shape;3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0489" y="1174750"/>
            <a:ext cx="2108886" cy="487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70"/>
          <p:cNvPicPr preferRelativeResize="0"/>
          <p:nvPr/>
        </p:nvPicPr>
        <p:blipFill rotWithShape="1">
          <a:blip r:embed="rId4">
            <a:alphaModFix/>
          </a:blip>
          <a:srcRect b="41690" l="44375" r="0" t="21860"/>
          <a:stretch/>
        </p:blipFill>
        <p:spPr>
          <a:xfrm>
            <a:off x="684944" y="2432050"/>
            <a:ext cx="8995545" cy="32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200775b63_2_39"/>
          <p:cNvSpPr txBox="1"/>
          <p:nvPr>
            <p:ph idx="1" type="body"/>
          </p:nvPr>
        </p:nvSpPr>
        <p:spPr>
          <a:xfrm>
            <a:off x="698501" y="3925723"/>
            <a:ext cx="10794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2025-01-14T02:29:22Z</dcterms:created>
  <dc:creator>MZC01-HYUNHOPART</dc:creator>
</cp:coreProperties>
</file>