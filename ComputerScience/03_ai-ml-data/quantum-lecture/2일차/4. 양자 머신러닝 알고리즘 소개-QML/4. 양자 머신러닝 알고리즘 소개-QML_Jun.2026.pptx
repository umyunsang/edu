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6858000" cx="12192000"/>
  <p:notesSz cx="6858000" cy="9144000"/>
  <p:embeddedFontLst>
    <p:embeddedFont>
      <p:font typeface="Noto Sans KR"/>
      <p:regular r:id="rId50"/>
      <p:bold r:id="rId51"/>
    </p:embeddedFont>
    <p:embeddedFont>
      <p:font typeface="Google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iV33MmQC/dZ5sxDVq0nrGt04Eh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65A0ED-5185-4640-A2CB-283B91C1F4A9}">
  <a:tblStyle styleId="{AF65A0ED-5185-4640-A2CB-283B91C1F4A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otoSansKR-bold.fntdata"/><Relationship Id="rId50" Type="http://schemas.openxmlformats.org/officeDocument/2006/relationships/font" Target="fonts/NotoSansKR-regular.fntdata"/><Relationship Id="rId53" Type="http://schemas.openxmlformats.org/officeDocument/2006/relationships/font" Target="fonts/GoogleSans-bold.fntdata"/><Relationship Id="rId52" Type="http://schemas.openxmlformats.org/officeDocument/2006/relationships/font" Target="fonts/GoogleSans-regular.fntdata"/><Relationship Id="rId11" Type="http://schemas.openxmlformats.org/officeDocument/2006/relationships/slide" Target="slides/slide5.xml"/><Relationship Id="rId55" Type="http://schemas.openxmlformats.org/officeDocument/2006/relationships/font" Target="fonts/GoogleSans-boldItalic.fntdata"/><Relationship Id="rId10" Type="http://schemas.openxmlformats.org/officeDocument/2006/relationships/slide" Target="slides/slide4.xml"/><Relationship Id="rId54" Type="http://schemas.openxmlformats.org/officeDocument/2006/relationships/font" Target="fonts/Google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 슬라이드">
  <p:cSld name="표지 슬라이드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5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5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" name="Google Shape;1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5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" name="Google Shape;16;p45"/>
          <p:cNvSpPr txBox="1"/>
          <p:nvPr>
            <p:ph idx="1" type="body"/>
          </p:nvPr>
        </p:nvSpPr>
        <p:spPr>
          <a:xfrm>
            <a:off x="4189413" y="4414838"/>
            <a:ext cx="3749675" cy="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7" name="Google Shape;17;p45"/>
          <p:cNvSpPr txBox="1"/>
          <p:nvPr>
            <p:ph type="title"/>
          </p:nvPr>
        </p:nvSpPr>
        <p:spPr>
          <a:xfrm>
            <a:off x="838200" y="266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  <a:defRPr b="0" i="0" sz="4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">
  <p:cSld name="본문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46"/>
          <p:cNvCxnSpPr/>
          <p:nvPr/>
        </p:nvCxnSpPr>
        <p:spPr>
          <a:xfrm>
            <a:off x="543732" y="980623"/>
            <a:ext cx="11082383" cy="0"/>
          </a:xfrm>
          <a:prstGeom prst="straightConnector1">
            <a:avLst/>
          </a:prstGeom>
          <a:noFill/>
          <a:ln cap="flat" cmpd="sng" w="19050">
            <a:solidFill>
              <a:srgbClr val="0A234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46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  <a:defRPr b="0" i="0" sz="4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46"/>
          <p:cNvSpPr txBox="1"/>
          <p:nvPr>
            <p:ph idx="1" type="body"/>
          </p:nvPr>
        </p:nvSpPr>
        <p:spPr>
          <a:xfrm>
            <a:off x="544513" y="1138239"/>
            <a:ext cx="11074400" cy="518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2" name="Google Shape;22;p46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3" name="Google Shape;2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6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b="0" i="0" sz="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1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중간 표지 슬라이드">
  <p:cSld name="중간 표지 슬라이드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7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7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sz="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8" name="Google Shape;2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7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sz="4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" name="Google Shape;31;p47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KR"/>
              <a:buNone/>
              <a:defRPr b="0" i="0" sz="3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마지막 슬라이드">
  <p:cSld name="마지막 슬라이드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8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8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sz="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5" name="Google Shape;3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8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sz="4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8" name="Google Shape;38;p48"/>
          <p:cNvGrpSpPr/>
          <p:nvPr/>
        </p:nvGrpSpPr>
        <p:grpSpPr>
          <a:xfrm>
            <a:off x="766762" y="2418352"/>
            <a:ext cx="10658476" cy="1039279"/>
            <a:chOff x="766762" y="2416723"/>
            <a:chExt cx="10658476" cy="1039279"/>
          </a:xfrm>
        </p:grpSpPr>
        <p:sp>
          <p:nvSpPr>
            <p:cNvPr id="39" name="Google Shape;39;p48"/>
            <p:cNvSpPr txBox="1"/>
            <p:nvPr/>
          </p:nvSpPr>
          <p:spPr>
            <a:xfrm>
              <a:off x="766762" y="2416723"/>
              <a:ext cx="10658476" cy="66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The gateway to all quantum computing technologies</a:t>
              </a:r>
              <a:endParaRPr/>
            </a:p>
          </p:txBody>
        </p:sp>
        <p:sp>
          <p:nvSpPr>
            <p:cNvPr id="40" name="Google Shape;40;p48"/>
            <p:cNvSpPr txBox="1"/>
            <p:nvPr/>
          </p:nvSpPr>
          <p:spPr>
            <a:xfrm>
              <a:off x="766762" y="3086670"/>
              <a:ext cx="106584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B4BFE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Thanks for Attention</a:t>
              </a:r>
              <a:endParaRPr/>
            </a:p>
          </p:txBody>
        </p:sp>
      </p:grpSp>
      <p:sp>
        <p:nvSpPr>
          <p:cNvPr id="41" name="Google Shape;41;p48"/>
          <p:cNvSpPr txBox="1"/>
          <p:nvPr>
            <p:ph idx="1" type="body"/>
          </p:nvPr>
        </p:nvSpPr>
        <p:spPr>
          <a:xfrm>
            <a:off x="698501" y="3925723"/>
            <a:ext cx="10795000" cy="44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목차 슬라이드">
  <p:cSld name="목차 슬라이드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9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9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sz="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5" name="Google Shape;4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9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sz="4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" name="Google Shape;48;p49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KR"/>
              <a:buNone/>
              <a:defRPr b="0" i="0" sz="3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49"/>
          <p:cNvSpPr txBox="1"/>
          <p:nvPr>
            <p:ph idx="1" type="body"/>
          </p:nvPr>
        </p:nvSpPr>
        <p:spPr>
          <a:xfrm>
            <a:off x="838201" y="1585913"/>
            <a:ext cx="10591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/>
          <p:nvPr/>
        </p:nvSpPr>
        <p:spPr>
          <a:xfrm rot="10800000">
            <a:off x="0" y="0"/>
            <a:ext cx="4324350" cy="4324353"/>
          </a:xfrm>
          <a:prstGeom prst="triangle">
            <a:avLst>
              <a:gd fmla="val 0" name="adj"/>
            </a:avLst>
          </a:prstGeom>
          <a:gradFill>
            <a:gsLst>
              <a:gs pos="0">
                <a:srgbClr val="08294C"/>
              </a:gs>
              <a:gs pos="100000">
                <a:srgbClr val="0C477F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73100" rotWithShape="0" algn="tl" dir="2700000" dist="520700">
              <a:srgbClr val="000000">
                <a:alpha val="3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" name="Google Shape;52;p50"/>
          <p:cNvSpPr/>
          <p:nvPr/>
        </p:nvSpPr>
        <p:spPr>
          <a:xfrm>
            <a:off x="4324350" y="0"/>
            <a:ext cx="7867650" cy="6858000"/>
          </a:xfrm>
          <a:prstGeom prst="rect">
            <a:avLst/>
          </a:prstGeom>
          <a:gradFill>
            <a:gsLst>
              <a:gs pos="0">
                <a:srgbClr val="E2E5ED"/>
              </a:gs>
              <a:gs pos="100000">
                <a:schemeClr val="lt1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" name="Google Shape;53;p50"/>
          <p:cNvSpPr/>
          <p:nvPr/>
        </p:nvSpPr>
        <p:spPr>
          <a:xfrm>
            <a:off x="0" y="2533647"/>
            <a:ext cx="4324350" cy="4324353"/>
          </a:xfrm>
          <a:prstGeom prst="triangle">
            <a:avLst>
              <a:gd fmla="val 0" name="adj"/>
            </a:avLst>
          </a:prstGeom>
          <a:gradFill>
            <a:gsLst>
              <a:gs pos="0">
                <a:srgbClr val="08294C"/>
              </a:gs>
              <a:gs pos="100000">
                <a:srgbClr val="0C477F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73100" rotWithShape="0" algn="tl" dir="2700000" dist="520700">
              <a:srgbClr val="000000">
                <a:alpha val="3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" name="Google Shape;54;p50"/>
          <p:cNvSpPr/>
          <p:nvPr/>
        </p:nvSpPr>
        <p:spPr>
          <a:xfrm>
            <a:off x="590551" y="1713510"/>
            <a:ext cx="3181350" cy="3181348"/>
          </a:xfrm>
          <a:prstGeom prst="frame">
            <a:avLst>
              <a:gd fmla="val 16576" name="adj1"/>
            </a:avLst>
          </a:prstGeom>
          <a:solidFill>
            <a:schemeClr val="lt1"/>
          </a:solidFill>
          <a:ln>
            <a:noFill/>
          </a:ln>
          <a:effectLst>
            <a:outerShdw blurRad="381000" rotWithShape="0" algn="tl" dir="2700000" dist="330200">
              <a:srgbClr val="000000">
                <a:alpha val="1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50"/>
          <p:cNvSpPr txBox="1"/>
          <p:nvPr>
            <p:ph idx="1" type="subTitle"/>
          </p:nvPr>
        </p:nvSpPr>
        <p:spPr>
          <a:xfrm>
            <a:off x="942388" y="2895574"/>
            <a:ext cx="2500088" cy="563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BFFFB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rgbClr val="FBFFFB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6" name="Google Shape;56;p50"/>
          <p:cNvSpPr txBox="1"/>
          <p:nvPr>
            <p:ph idx="2" type="body"/>
          </p:nvPr>
        </p:nvSpPr>
        <p:spPr>
          <a:xfrm>
            <a:off x="942421" y="3459480"/>
            <a:ext cx="2500088" cy="315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2E5E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E2E5ED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7" name="Google Shape;57;p50"/>
          <p:cNvSpPr txBox="1"/>
          <p:nvPr>
            <p:ph idx="12" type="sldNum"/>
          </p:nvPr>
        </p:nvSpPr>
        <p:spPr>
          <a:xfrm>
            <a:off x="11392189" y="6587081"/>
            <a:ext cx="576006" cy="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/>
          <p:nvPr/>
        </p:nvSpPr>
        <p:spPr>
          <a:xfrm>
            <a:off x="0" y="1012871"/>
            <a:ext cx="5812107" cy="5812112"/>
          </a:xfrm>
          <a:prstGeom prst="triangle">
            <a:avLst>
              <a:gd fmla="val 0" name="adj"/>
            </a:avLst>
          </a:prstGeom>
          <a:gradFill>
            <a:gsLst>
              <a:gs pos="0">
                <a:srgbClr val="08294C"/>
              </a:gs>
              <a:gs pos="100000">
                <a:srgbClr val="0B447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73100" rotWithShape="0" algn="tl" dist="508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51"/>
          <p:cNvSpPr/>
          <p:nvPr/>
        </p:nvSpPr>
        <p:spPr>
          <a:xfrm rot="10800000">
            <a:off x="7003514" y="11870"/>
            <a:ext cx="5177304" cy="5177307"/>
          </a:xfrm>
          <a:prstGeom prst="triangle">
            <a:avLst>
              <a:gd fmla="val 0" name="adj"/>
            </a:avLst>
          </a:prstGeom>
          <a:gradFill>
            <a:gsLst>
              <a:gs pos="0">
                <a:srgbClr val="08294C"/>
              </a:gs>
              <a:gs pos="100000">
                <a:srgbClr val="0B447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73100" rotWithShape="0" algn="tl" dir="2700000" dist="520700">
              <a:srgbClr val="000000">
                <a:alpha val="3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51"/>
          <p:cNvSpPr/>
          <p:nvPr/>
        </p:nvSpPr>
        <p:spPr>
          <a:xfrm>
            <a:off x="265889" y="330740"/>
            <a:ext cx="11660222" cy="6196520"/>
          </a:xfrm>
          <a:prstGeom prst="roundRect">
            <a:avLst>
              <a:gd fmla="val 0" name="adj"/>
            </a:avLst>
          </a:prstGeom>
          <a:gradFill>
            <a:gsLst>
              <a:gs pos="0">
                <a:schemeClr val="lt1"/>
              </a:gs>
              <a:gs pos="100000">
                <a:srgbClr val="FBFFFB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2" name="Google Shape;62;p51"/>
          <p:cNvCxnSpPr/>
          <p:nvPr/>
        </p:nvCxnSpPr>
        <p:spPr>
          <a:xfrm>
            <a:off x="5903111" y="330739"/>
            <a:ext cx="385768" cy="0"/>
          </a:xfrm>
          <a:prstGeom prst="straightConnector1">
            <a:avLst/>
          </a:prstGeom>
          <a:noFill/>
          <a:ln cap="flat" cmpd="sng" w="142875">
            <a:solidFill>
              <a:srgbClr val="0C47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p51"/>
          <p:cNvSpPr txBox="1"/>
          <p:nvPr>
            <p:ph type="title"/>
          </p:nvPr>
        </p:nvSpPr>
        <p:spPr>
          <a:xfrm>
            <a:off x="3301999" y="704493"/>
            <a:ext cx="5588002" cy="567808"/>
          </a:xfrm>
          <a:prstGeom prst="rect">
            <a:avLst/>
          </a:prstGeom>
          <a:noFill/>
          <a:ln cap="flat" cmpd="sng" w="9525">
            <a:solidFill>
              <a:srgbClr val="D8D8D8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477F"/>
              </a:buClr>
              <a:buSzPts val="4000"/>
              <a:buFont typeface="Noto Sans KR"/>
              <a:buNone/>
              <a:defRPr b="0" i="0" sz="4000" u="none" cap="none" strike="noStrike">
                <a:solidFill>
                  <a:srgbClr val="0C477F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1400906" y="1777999"/>
            <a:ext cx="9390178" cy="437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5" name="Google Shape;65;p51"/>
          <p:cNvSpPr txBox="1"/>
          <p:nvPr>
            <p:ph idx="12" type="sldNum"/>
          </p:nvPr>
        </p:nvSpPr>
        <p:spPr>
          <a:xfrm>
            <a:off x="11392189" y="6587081"/>
            <a:ext cx="576006" cy="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6" name="Google Shape;66;p51"/>
          <p:cNvSpPr/>
          <p:nvPr>
            <p:ph idx="2" type="subTitle"/>
          </p:nvPr>
        </p:nvSpPr>
        <p:spPr>
          <a:xfrm>
            <a:off x="4163438" y="1419640"/>
            <a:ext cx="3941314" cy="264513"/>
          </a:xfrm>
          <a:prstGeom prst="plaque">
            <a:avLst>
              <a:gd fmla="val 0" name="adj"/>
            </a:avLst>
          </a:prstGeom>
          <a:gradFill>
            <a:gsLst>
              <a:gs pos="0">
                <a:schemeClr val="lt1"/>
              </a:gs>
              <a:gs pos="100000">
                <a:srgbClr val="FBFFFB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152400" rotWithShape="0" algn="tl" dir="2700000" dist="139700">
              <a:srgbClr val="000000">
                <a:alpha val="7843"/>
              </a:srgbClr>
            </a:outerShdw>
          </a:effectLst>
        </p:spPr>
        <p:txBody>
          <a:bodyPr anchorCtr="0" anchor="ctr" bIns="45700" lIns="180000" spcFirstLastPara="1" rIns="18000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77F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rgbClr val="0C477F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7" name="Google Shape;67;p51"/>
          <p:cNvSpPr/>
          <p:nvPr/>
        </p:nvSpPr>
        <p:spPr>
          <a:xfrm rot="10800000">
            <a:off x="11680587" y="330739"/>
            <a:ext cx="245523" cy="245523"/>
          </a:xfrm>
          <a:prstGeom prst="triangle">
            <a:avLst>
              <a:gd fmla="val 0" name="adj"/>
            </a:avLst>
          </a:prstGeom>
          <a:gradFill>
            <a:gsLst>
              <a:gs pos="0">
                <a:srgbClr val="08294C"/>
              </a:gs>
              <a:gs pos="100000">
                <a:srgbClr val="0B447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673100" rotWithShape="0" algn="tl" dist="508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" name="Google Shape;68;p51"/>
          <p:cNvSpPr/>
          <p:nvPr/>
        </p:nvSpPr>
        <p:spPr>
          <a:xfrm>
            <a:off x="335730" y="6160548"/>
            <a:ext cx="296862" cy="296862"/>
          </a:xfrm>
          <a:prstGeom prst="triangle">
            <a:avLst>
              <a:gd fmla="val 0" name="adj"/>
            </a:avLst>
          </a:prstGeom>
          <a:gradFill>
            <a:gsLst>
              <a:gs pos="0">
                <a:srgbClr val="08294C"/>
              </a:gs>
              <a:gs pos="100000">
                <a:srgbClr val="0B447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444500" rotWithShape="0" algn="tl" dir="8100000" dist="177800">
              <a:srgbClr val="000000">
                <a:alpha val="5607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bg>
      <p:bgPr>
        <a:gradFill>
          <a:gsLst>
            <a:gs pos="0">
              <a:srgbClr val="08294C"/>
            </a:gs>
            <a:gs pos="100000">
              <a:srgbClr val="093A68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52"/>
          <p:cNvCxnSpPr/>
          <p:nvPr/>
        </p:nvCxnSpPr>
        <p:spPr>
          <a:xfrm>
            <a:off x="423673" y="1535348"/>
            <a:ext cx="389127" cy="0"/>
          </a:xfrm>
          <a:prstGeom prst="straightConnector1">
            <a:avLst/>
          </a:prstGeom>
          <a:noFill/>
          <a:ln cap="flat" cmpd="sng" w="88900">
            <a:solidFill>
              <a:schemeClr val="lt1">
                <a:alpha val="18039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52"/>
          <p:cNvSpPr txBox="1"/>
          <p:nvPr>
            <p:ph type="title"/>
          </p:nvPr>
        </p:nvSpPr>
        <p:spPr>
          <a:xfrm>
            <a:off x="423673" y="706776"/>
            <a:ext cx="6535927" cy="567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  <a:defRPr b="0" i="0" sz="4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52"/>
          <p:cNvSpPr txBox="1"/>
          <p:nvPr>
            <p:ph idx="1" type="body"/>
          </p:nvPr>
        </p:nvSpPr>
        <p:spPr>
          <a:xfrm>
            <a:off x="450705" y="1777999"/>
            <a:ext cx="11290580" cy="437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3" name="Google Shape;73;p52"/>
          <p:cNvSpPr/>
          <p:nvPr>
            <p:ph idx="2" type="subTitle"/>
          </p:nvPr>
        </p:nvSpPr>
        <p:spPr>
          <a:xfrm>
            <a:off x="423673" y="296862"/>
            <a:ext cx="3657610" cy="264513"/>
          </a:xfrm>
          <a:prstGeom prst="plaque">
            <a:avLst>
              <a:gd fmla="val 0" name="adj"/>
            </a:avLst>
          </a:prstGeom>
          <a:gradFill>
            <a:gsLst>
              <a:gs pos="0">
                <a:srgbClr val="08294C"/>
              </a:gs>
              <a:gs pos="100000">
                <a:srgbClr val="0C477F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266700" rotWithShape="0" algn="tl" dir="2700000" dist="215900">
              <a:srgbClr val="000000">
                <a:alpha val="16078"/>
              </a:srgbClr>
            </a:outerShdw>
          </a:effectLst>
        </p:spPr>
        <p:txBody>
          <a:bodyPr anchorCtr="0" anchor="ctr" bIns="45700" lIns="180000" spcFirstLastPara="1" rIns="180000" wrap="square" tIns="45700">
            <a:noAutofit/>
          </a:bodyPr>
          <a:lstStyle>
            <a:lvl1pPr lv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4" name="Google Shape;74;p52"/>
          <p:cNvSpPr txBox="1"/>
          <p:nvPr>
            <p:ph idx="12" type="sldNum"/>
          </p:nvPr>
        </p:nvSpPr>
        <p:spPr>
          <a:xfrm>
            <a:off x="11392189" y="6587081"/>
            <a:ext cx="576006" cy="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1" sz="11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idx="1" type="body"/>
          </p:nvPr>
        </p:nvSpPr>
        <p:spPr>
          <a:xfrm>
            <a:off x="4189413" y="4414838"/>
            <a:ext cx="3749675" cy="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0" i="0" lang="ko-KR" sz="1800" u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HYUNHO PARK </a:t>
            </a:r>
            <a:r>
              <a:rPr b="0" i="0" lang="ko-KR" sz="1800" u="none" strike="noStrike">
                <a:solidFill>
                  <a:srgbClr val="00B0F0"/>
                </a:solidFill>
                <a:latin typeface="Noto Sans KR"/>
                <a:ea typeface="Noto Sans KR"/>
                <a:cs typeface="Noto Sans KR"/>
                <a:sym typeface="Noto Sans KR"/>
              </a:rPr>
              <a:t>hyunhopart@megazone.com</a:t>
            </a:r>
            <a:endParaRPr b="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0" i="0" lang="ko-KR" sz="1800" u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Quantum Innovation Lab</a:t>
            </a:r>
            <a:endParaRPr b="0"/>
          </a:p>
        </p:txBody>
      </p:sp>
      <p:sp>
        <p:nvSpPr>
          <p:cNvPr id="80" name="Google Shape;80;p1"/>
          <p:cNvSpPr txBox="1"/>
          <p:nvPr>
            <p:ph type="title"/>
          </p:nvPr>
        </p:nvSpPr>
        <p:spPr>
          <a:xfrm>
            <a:off x="838200" y="266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</a:pPr>
            <a:r>
              <a:rPr lang="ko-KR"/>
              <a:t>Quantum Machine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머신러닝 기술 발전 그래프</a:t>
            </a:r>
            <a:endParaRPr/>
          </a:p>
        </p:txBody>
      </p:sp>
      <p:sp>
        <p:nvSpPr>
          <p:cNvPr id="86" name="Google Shape;86;p2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7" name="Google Shape;87;p2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Exponential growth of parameters in notable AI systems, ourworldindata, 2026.04.15</a:t>
            </a:r>
            <a:endParaRPr b="0" i="0" sz="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8" name="Google Shape;8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31" y="1327520"/>
            <a:ext cx="6313267" cy="445642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9" name="Google Shape;89;p2"/>
          <p:cNvSpPr/>
          <p:nvPr/>
        </p:nvSpPr>
        <p:spPr>
          <a:xfrm>
            <a:off x="6978255" y="1548412"/>
            <a:ext cx="4996031" cy="418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파라미터의 폭발적 팽창 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2010년대 초반 수천만 개 수준이던 모델 가중치가 최근 수조 개 단위로 증가했습니다.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연구기관 Epoch AI에 따르면, 주요 AI 모델의 파라미터 수는 2010년 기점으로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매년 약 2배씩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증가하는 추세를 보입니다.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 깊이의 진화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10개 미만의 얕은 신경망 구조에서, feature을 세밀하게 학습하기 위해 레이어를 수백 개까지 깊게 쌓는 방식(ResNet 등)으로 진화했습니다.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현재는 고도로 복잡한 트랜스포머 연산 블록을 겹겹이 쌓아 성능을 극대화하고 있습니다.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고전 컴퓨팅의 한계 도달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훈련에 필요한 연산량(FLOPs)은 파라미터 증가 속도보다 더 가파르게 상승하여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약 6개월마다 2배씩 증가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하고 있습니다.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천문학적인 하드웨어 구축 비용, 막대한 전력 소비, 훈련 소요 시간 등 고전 컴퓨터 기반 구조의 근본적인 한계가 노출되고 있습니다.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747486" y="2293257"/>
            <a:ext cx="6008914" cy="22497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머신러닝 대표 알고리즘</a:t>
            </a:r>
            <a:endParaRPr/>
          </a:p>
        </p:txBody>
      </p:sp>
      <p:sp>
        <p:nvSpPr>
          <p:cNvPr id="96" name="Google Shape;96;p3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82" y="1223762"/>
            <a:ext cx="11083636" cy="464443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 Comprehensive Survey of Deep Learning for Time Series Forecasting: Architectural Diversity and Open Challenge,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머신러닝 알고리즘별 QML 최신 트렌드</a:t>
            </a:r>
            <a:endParaRPr/>
          </a:p>
        </p:txBody>
      </p:sp>
      <p:sp>
        <p:nvSpPr>
          <p:cNvPr id="104" name="Google Shape;104;p4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aphicFrame>
        <p:nvGraphicFramePr>
          <p:cNvPr id="105" name="Google Shape;105;p4"/>
          <p:cNvGraphicFramePr/>
          <p:nvPr/>
        </p:nvGraphicFramePr>
        <p:xfrm>
          <a:off x="543731" y="1133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{AF65A0ED-5185-4640-A2CB-283B91C1F4A9}</a:tableStyleId>
              </a:tblPr>
              <a:tblGrid>
                <a:gridCol w="1351675"/>
                <a:gridCol w="1714975"/>
                <a:gridCol w="2987100"/>
                <a:gridCol w="2987100"/>
                <a:gridCol w="2034325"/>
              </a:tblGrid>
              <a:tr h="312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고전 ML 알고리즘</a:t>
                      </a:r>
                      <a:endParaRPr i="0" sz="12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초기 양자 접근 (과거)</a:t>
                      </a:r>
                      <a:endParaRPr i="0" sz="12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QML 적용 트렌드 (최신)</a:t>
                      </a:r>
                      <a:endParaRPr i="0" sz="12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최신 SOTA 성능 및 주요 결과</a:t>
                      </a:r>
                      <a:endParaRPr i="0" sz="12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대표 참고 문헌</a:t>
                      </a:r>
                      <a:endParaRPr i="0" sz="1200" u="none" cap="none" strike="noStrike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33875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774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Neural Networks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모델에 대한 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초기 탐색 수준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하이브리드 양자 신경망(HQCNN, CQ-CNN):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기존 CNN 구조에 매개변수화된 양자 회로를 결합하여 특징 추출</a:t>
                      </a:r>
                      <a:endParaRPr/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의료 영상 분류 SOTA: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고전 딥러닝 대비 </a:t>
                      </a: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파라미터 99.99% 감소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(수백만 개 → 1만여 개) 및 96.4%~97.5% 정확도 달성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8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Hybrid Quantum-Classical Neural Networks for Healthcare Prediction Powered by Automated Scientific Discovery (2026)</a:t>
                      </a:r>
                      <a:endParaRPr/>
                    </a:p>
                  </a:txBody>
                  <a:tcPr marT="32275" marB="32275" marR="33875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서포트 벡터 머신 (SVM)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고전적 거리 계산의 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효율적 수행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커널 매핑(Quantum Kernel):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복잡한 비선형 데이터를 기하급수적으로 큰 차원의 Hilbert Space으로 매핑하여 학습</a:t>
                      </a:r>
                      <a:endParaRPr/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시계열/신호 데이터 SOTA: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NISQ 환경에서도 뇌파(EEG) 및 금융 데이터 분류 정확도 95~99% 달성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QSVM-QNN: Quantum Support Vector Machine Based Quantum Neural Network Learning Algorithm for Brain–Computer Interfacing Systems (IEEE, 2026)</a:t>
                      </a:r>
                      <a:endParaRPr i="0" sz="8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33875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K-Means / k-NN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고전적 거리 계산의 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효율적 수행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충실도 및 분산 처리: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데이터의 양자 인코딩 기술 고도화, 차원 축소와 병행</a:t>
                      </a:r>
                      <a:endParaRPr/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3D 및 희소 데이터 SOTA: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극단적으로 적은 데이터 포인트 환경에서 고전 SOTA 도달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8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HyQuRP: Hybrid quantum-classical neural network with rotational and permutational equivariance for 3D point clouds (2026)</a:t>
                      </a:r>
                      <a:endParaRPr/>
                    </a:p>
                  </a:txBody>
                  <a:tcPr marT="32275" marB="32275" marR="33875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Decision Trees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모델에 대한 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초기 탐색 수준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랜덤 포레스트(QRF):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앙상블 기법과 양자 중첩을 결합하여 다중 트리 탐색 병렬화</a:t>
                      </a:r>
                      <a:endParaRPr/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트리의 Node마다 양자 커널 기반의 판별기를 두어, 양자 역학적 특징 추출과 앙상블 기법을 결합하여 분류 성능 향상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 kernel-based quantum random forest for improved classification (2022~2023)</a:t>
                      </a:r>
                      <a:endParaRPr i="0" sz="8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33875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확률 모델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(베이지안 이론)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시스템 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언어로의 재구성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상태 판별 및 확률 마르코프 모델 고도화:</a:t>
                      </a: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양자 회로를 활용한 복잡한 확률 분포 샘플링 (QGAN 등과 연계)</a:t>
                      </a:r>
                      <a:endParaRPr/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200" u="none" cap="none" strike="noStrike">
                          <a:solidFill>
                            <a:srgbClr val="1F1F1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6G 통신 네트워크 자원 할당 최적화, 거대 시스템 내 이상 탐지 속도 대폭 향상</a:t>
                      </a:r>
                      <a:endParaRPr i="0" sz="1200" u="none" cap="none" strike="noStrike">
                        <a:solidFill>
                          <a:srgbClr val="1F1F1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32275" marB="32275" marR="24200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Generative Quantum Machine Learning via Denoising Diffusion Probabilistic Models (QuDDPM) (2023~2026)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KR"/>
                        <a:buNone/>
                      </a:pPr>
                      <a:r>
                        <a:rPr i="0" lang="ko-KR" sz="8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Robust Iterative Learning Hidden Quantum Markov Models (2025)</a:t>
                      </a:r>
                      <a:endParaRPr/>
                    </a:p>
                  </a:txBody>
                  <a:tcPr marT="32275" marB="32275" marR="33875" marL="33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4"/>
          <p:cNvSpPr txBox="1"/>
          <p:nvPr/>
        </p:nvSpPr>
        <p:spPr>
          <a:xfrm>
            <a:off x="543731" y="5605751"/>
            <a:ext cx="1107518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경향성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NISQ 친화적:</a:t>
            </a: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순수 양자 알고리즘보다, Optimizer와 양자 회로를 결합한 하이브리드 방식 구현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Small Data &amp; 고효율:</a:t>
            </a: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적은 수의 레이어, Qubit와 파라미터만으로도 복잡한 차원 표현하고자 함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고전 데이터의 양자 데이터 매핑</a:t>
            </a:r>
            <a:endParaRPr/>
          </a:p>
        </p:txBody>
      </p:sp>
      <p:sp>
        <p:nvSpPr>
          <p:cNvPr id="112" name="Google Shape;112;p5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710016" y="1259068"/>
            <a:ext cx="10771969" cy="37718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94" l="-1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000"/>
              <a:buFont typeface="Noto Sans KR"/>
              <a:buNone/>
            </a:pPr>
            <a:r>
              <a:rPr i="0" lang="ko-KR" sz="4000" u="none" cap="none" strike="noStrike">
                <a:solidFill>
                  <a:srgbClr val="1F1F1F"/>
                </a:solidFill>
              </a:rPr>
              <a:t>생성형 양자 모델(QuGAN) </a:t>
            </a:r>
            <a:r>
              <a:rPr i="0" lang="ko-KR" sz="4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검토</a:t>
            </a:r>
            <a:endParaRPr/>
          </a:p>
        </p:txBody>
      </p:sp>
      <p:sp>
        <p:nvSpPr>
          <p:cNvPr id="119" name="Google Shape;119;p6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96876" y="2233229"/>
            <a:ext cx="10950888" cy="2658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최근 AI의 트렌드: '생성형 AI'로, 양자 컴퓨터는 그 본질 자체가 '확률 생성기'이므로, 생성 모델에서 효율성, 성능 향상 기대됨</a:t>
            </a:r>
            <a:endParaRPr b="1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컴퓨터 = 자연적인 확률 생성기 (Natural Probability Generator)</a:t>
            </a:r>
            <a:endParaRPr sz="1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고전 머신러닝 알고리즘들(SVM, KNN 등)이 데이터를 '분류'하는 데 목적이 있다면, 생성 모델은 새로운 데이터를 '생성'해야 함</a:t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고전 컴퓨터는 수학적 연산을 통해 무작위성을 흉내 내지만, </a:t>
            </a: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컴퓨터는 중첩과 얽힘 상태를 측정할 때 본질적으로 거대한 확률 분포를 붕괴시키며 데이터를 쏟아 냄</a:t>
            </a:r>
            <a:r>
              <a:rPr lang="ko-KR" sz="1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시스템 자체 = 훌륭한 생성기</a:t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타겟 선정: 하이브리드 QuGAN</a:t>
            </a:r>
            <a:endParaRPr sz="1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QuGAN: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양자 얽힘(Entanglement)만 잘 조작하면 복잡한 확률 분포를 자연스럽게 생성함</a:t>
            </a:r>
            <a:b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→ 양자의 본질적 특성을 GAN에 적용</a:t>
            </a:r>
            <a:r>
              <a:rPr lang="ko-KR" sz="1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하여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양자 생성적 적대 신경망 알고리즘 연구함</a:t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적은 Layer: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QuGAN은 고전 GAN이 199개의 파라미터를 필요로 하는 작업을 10개의 파라미터(-94.98%)만으로 동일하게 수행함</a:t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실습 방향: 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적은 레이어로 직접 코드를 구현하고 의미 있는 결과를 도출한다"는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교육 목표에 부합하는 모델로 선정함</a:t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QuGAN: A Quantum State Fidelity based Generative Adversarial Network, 2022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FFB"/>
              </a:buClr>
              <a:buSzPts val="3200"/>
              <a:buFont typeface="Noto Sans KR"/>
              <a:buNone/>
            </a:pPr>
            <a:r>
              <a:rPr lang="ko-KR">
                <a:solidFill>
                  <a:srgbClr val="FBFFFB"/>
                </a:solidFill>
              </a:rPr>
              <a:t>GAN (Generative Adversarial Network)</a:t>
            </a:r>
            <a:endParaRPr sz="4400">
              <a:solidFill>
                <a:srgbClr val="FBFFF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GAN (Generative Adversarial Network)</a:t>
            </a:r>
            <a:endParaRPr/>
          </a:p>
        </p:txBody>
      </p:sp>
      <p:sp>
        <p:nvSpPr>
          <p:cNvPr id="132" name="Google Shape;132;p8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651283" y="1389661"/>
            <a:ext cx="10345783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GAN은 'Generative Adversarial Network'의 약자로, '생성적 적대 신경망'을 의미함</a:t>
            </a:r>
            <a:endParaRPr b="1"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'생성'을 목적으로 하는 인공지능 모델 중에서도 대표적인 접근 방식 중 하나로 평가받고 있음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GAN의 핵심은 </a:t>
            </a: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개의 개별적인 인공지능 모델이 서로 '적대적 경쟁'하는 방식</a:t>
            </a: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학습하며 발전함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주로 이미지, 음성, 텍스트 등 실제와 유사한 새로운 데이터를 만들어내는 데 활용됨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996881" y="6202766"/>
            <a:ext cx="28438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Image : https://wegonnamakeittistorycom/54</a:t>
            </a:r>
            <a:endParaRPr/>
          </a:p>
        </p:txBody>
      </p:sp>
      <p:grpSp>
        <p:nvGrpSpPr>
          <p:cNvPr id="135" name="Google Shape;135;p8"/>
          <p:cNvGrpSpPr/>
          <p:nvPr/>
        </p:nvGrpSpPr>
        <p:grpSpPr>
          <a:xfrm>
            <a:off x="1515985" y="2661936"/>
            <a:ext cx="9160030" cy="3316932"/>
            <a:chOff x="1515984" y="2661936"/>
            <a:chExt cx="9160030" cy="3316932"/>
          </a:xfrm>
        </p:grpSpPr>
        <p:pic>
          <p:nvPicPr>
            <p:cNvPr id="136" name="Google Shape;13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5984" y="2661936"/>
              <a:ext cx="9160030" cy="33169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8"/>
            <p:cNvSpPr/>
            <p:nvPr/>
          </p:nvSpPr>
          <p:spPr>
            <a:xfrm>
              <a:off x="3009207" y="3179479"/>
              <a:ext cx="1920240" cy="1567088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422670" y="4046774"/>
              <a:ext cx="1920240" cy="1567088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KR"/>
              <a:buNone/>
            </a:pPr>
            <a:r>
              <a:rPr lang="ko-KR" sz="3600"/>
              <a:t>생성자(Generator) &amp; 판별자(Discriminator)</a:t>
            </a:r>
            <a:endParaRPr sz="3600"/>
          </a:p>
        </p:txBody>
      </p:sp>
      <p:sp>
        <p:nvSpPr>
          <p:cNvPr id="144" name="Google Shape;144;p9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1277254" y="1564981"/>
            <a:ext cx="1019430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생성자 (Generator)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무작위 노이즈를 입력받아 실제와 유사한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'가짜 데이터'를 생성하는 신경망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으로, 목표는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판별자를 성공적으로 속이는 것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277254" y="5467634"/>
            <a:ext cx="1009732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판별자 (Discriminator)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'진짜 데이터'인지 생성자가 만든 '가짜 데이터'인지 구분하는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이진 분류 신경망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으로, 목표는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진짜와 가짜를 정확하게 판별하는 것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47" name="Google Shape;147;p9"/>
          <p:cNvGrpSpPr/>
          <p:nvPr/>
        </p:nvGrpSpPr>
        <p:grpSpPr>
          <a:xfrm>
            <a:off x="1515985" y="2539396"/>
            <a:ext cx="9160030" cy="2725361"/>
            <a:chOff x="1515985" y="2539396"/>
            <a:chExt cx="9160030" cy="2725361"/>
          </a:xfrm>
        </p:grpSpPr>
        <p:pic>
          <p:nvPicPr>
            <p:cNvPr id="148" name="Google Shape;148;p9"/>
            <p:cNvPicPr preferRelativeResize="0"/>
            <p:nvPr/>
          </p:nvPicPr>
          <p:blipFill rotWithShape="1">
            <a:blip r:embed="rId3">
              <a:alphaModFix/>
            </a:blip>
            <a:srcRect b="0" l="0" r="0" t="19500"/>
            <a:stretch/>
          </p:blipFill>
          <p:spPr>
            <a:xfrm>
              <a:off x="1515985" y="2594623"/>
              <a:ext cx="9160030" cy="267013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149" name="Google Shape;149;p9"/>
            <p:cNvSpPr/>
            <p:nvPr/>
          </p:nvSpPr>
          <p:spPr>
            <a:xfrm>
              <a:off x="3025834" y="2539396"/>
              <a:ext cx="1920240" cy="1567088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6397732" y="3406691"/>
              <a:ext cx="1920240" cy="1567088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KR"/>
              <a:buNone/>
            </a:pPr>
            <a:r>
              <a:rPr lang="ko-KR" sz="3600"/>
              <a:t>생성자/판별자 학습 과정</a:t>
            </a:r>
            <a:endParaRPr/>
          </a:p>
        </p:txBody>
      </p:sp>
      <p:sp>
        <p:nvSpPr>
          <p:cNvPr id="156" name="Google Shape;156;p10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1187166" y="1520404"/>
            <a:ext cx="981766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모델은 서로 경쟁하면서 학습함</a:t>
            </a:r>
            <a:endParaRPr b="1"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생성자는 점점 더 정교한 가짜 데이터를 만들고, 판별자는 진짜와 가짜를 더 날카롭게 구별하려고 노력함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적대적 경쟁의 결과로, </a:t>
            </a: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생성자는 궁극적으로 실제 데이터와 거의 구별할 수 없는 고품질의 데이터를 만들어낼 수 있게 됨</a:t>
            </a:r>
            <a:endParaRPr/>
          </a:p>
        </p:txBody>
      </p:sp>
      <p:grpSp>
        <p:nvGrpSpPr>
          <p:cNvPr id="158" name="Google Shape;158;p10"/>
          <p:cNvGrpSpPr/>
          <p:nvPr/>
        </p:nvGrpSpPr>
        <p:grpSpPr>
          <a:xfrm>
            <a:off x="1515985" y="2277922"/>
            <a:ext cx="9160030" cy="4096191"/>
            <a:chOff x="1515985" y="1538289"/>
            <a:chExt cx="9160030" cy="4096191"/>
          </a:xfrm>
        </p:grpSpPr>
        <p:sp>
          <p:nvSpPr>
            <p:cNvPr id="159" name="Google Shape;159;p10"/>
            <p:cNvSpPr txBox="1"/>
            <p:nvPr/>
          </p:nvSpPr>
          <p:spPr>
            <a:xfrm>
              <a:off x="1515985" y="4618817"/>
              <a:ext cx="899130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762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생성자는 가짜 데이터를 만들고, 판별자는 진짜 데이터와 가짜 데이터를 함께 입력 받아 구분함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762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판별자가 올바르게 판별하면 보상을 받고, 틀리면 페널티를 받음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762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생성자는 판별자를 속이는 데 성공하면 보상을 받음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762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피드백을 통해 생성자는 점점 더 정교한 가짜 데이터를 만들고, 판별자는 더욱 정교하게 진짜와 가짜를 구분하는 능력을 키움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762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algun Gothic"/>
                <a:buAutoNum type="arabicPeriod"/>
              </a:pP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경쟁은 생성자가 실제 데이터와 거의 구별 불가능한 데이터를 만들어낼 때까지 반복함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160" name="Google Shape;160;p10"/>
            <p:cNvPicPr preferRelativeResize="0"/>
            <p:nvPr/>
          </p:nvPicPr>
          <p:blipFill rotWithShape="1">
            <a:blip r:embed="rId3">
              <a:alphaModFix/>
            </a:blip>
            <a:srcRect b="0" l="0" r="0" t="19500"/>
            <a:stretch/>
          </p:blipFill>
          <p:spPr>
            <a:xfrm>
              <a:off x="1515985" y="1741173"/>
              <a:ext cx="9160030" cy="267013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161" name="Google Shape;161;p10"/>
            <p:cNvSpPr/>
            <p:nvPr/>
          </p:nvSpPr>
          <p:spPr>
            <a:xfrm>
              <a:off x="4849224" y="2285037"/>
              <a:ext cx="243575" cy="26793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b="1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6392619" y="3295034"/>
              <a:ext cx="243575" cy="26793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b="1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4849223" y="1542822"/>
              <a:ext cx="243575" cy="26793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b="1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4" name="Google Shape;164;p10"/>
            <p:cNvSpPr txBox="1"/>
            <p:nvPr/>
          </p:nvSpPr>
          <p:spPr>
            <a:xfrm>
              <a:off x="5002129" y="1538289"/>
              <a:ext cx="22765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Training </a:t>
              </a:r>
              <a:r>
                <a:rPr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(Reward or Penalty)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65" name="Google Shape;165;p10"/>
            <p:cNvCxnSpPr/>
            <p:nvPr/>
          </p:nvCxnSpPr>
          <p:spPr>
            <a:xfrm rot="10800000">
              <a:off x="4998721" y="1921330"/>
              <a:ext cx="2409009" cy="617137"/>
            </a:xfrm>
            <a:prstGeom prst="bentConnector3">
              <a:avLst>
                <a:gd fmla="val 294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6" name="Google Shape;166;p10"/>
            <p:cNvSpPr/>
            <p:nvPr/>
          </p:nvSpPr>
          <p:spPr>
            <a:xfrm>
              <a:off x="7477685" y="1954725"/>
              <a:ext cx="243575" cy="26793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b="1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7" name="Google Shape;167;p10"/>
            <p:cNvSpPr txBox="1"/>
            <p:nvPr/>
          </p:nvSpPr>
          <p:spPr>
            <a:xfrm>
              <a:off x="7704846" y="1965345"/>
              <a:ext cx="5645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Loop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8849285" y="2694954"/>
              <a:ext cx="243575" cy="26793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 b="1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9092860" y="2705574"/>
              <a:ext cx="4780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End</a:t>
              </a:r>
              <a:endParaRPr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FFB"/>
              </a:buClr>
              <a:buSzPts val="4400"/>
              <a:buFont typeface="Noto Sans KR"/>
              <a:buNone/>
            </a:pPr>
            <a:r>
              <a:rPr lang="ko-KR" sz="4400">
                <a:solidFill>
                  <a:srgbClr val="FBFFFB"/>
                </a:solidFill>
              </a:rPr>
              <a:t>QuGAN Architecture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GAN vs QuGAN 아키텍처</a:t>
            </a:r>
            <a:endParaRPr/>
          </a:p>
        </p:txBody>
      </p:sp>
      <p:sp>
        <p:nvSpPr>
          <p:cNvPr id="181" name="Google Shape;181;p12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6000" y="4040219"/>
            <a:ext cx="7560000" cy="2232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183" name="Google Shape;183;p12"/>
          <p:cNvPicPr preferRelativeResize="0"/>
          <p:nvPr/>
        </p:nvPicPr>
        <p:blipFill rotWithShape="1">
          <a:blip r:embed="rId4">
            <a:alphaModFix/>
          </a:blip>
          <a:srcRect b="0" l="0" r="0" t="18443"/>
          <a:stretch/>
        </p:blipFill>
        <p:spPr>
          <a:xfrm>
            <a:off x="2316000" y="1516040"/>
            <a:ext cx="7560000" cy="2232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84" name="Google Shape;184;p12"/>
          <p:cNvSpPr txBox="1"/>
          <p:nvPr/>
        </p:nvSpPr>
        <p:spPr>
          <a:xfrm>
            <a:off x="1396047" y="2462763"/>
            <a:ext cx="651569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GAN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1269624" y="4986942"/>
            <a:ext cx="904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QuGAN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86" name="Google Shape;186;p12"/>
          <p:cNvCxnSpPr/>
          <p:nvPr/>
        </p:nvCxnSpPr>
        <p:spPr>
          <a:xfrm>
            <a:off x="3102883" y="3863498"/>
            <a:ext cx="638864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12"/>
          <p:cNvSpPr/>
          <p:nvPr/>
        </p:nvSpPr>
        <p:spPr>
          <a:xfrm>
            <a:off x="3582786" y="1424506"/>
            <a:ext cx="1554479" cy="129375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441391" y="4843613"/>
            <a:ext cx="1167904" cy="37475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6387425" y="2154439"/>
            <a:ext cx="1554479" cy="129375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7297082" y="4771504"/>
            <a:ext cx="1061731" cy="30354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9065673" y="5473945"/>
            <a:ext cx="725177" cy="250860"/>
          </a:xfrm>
          <a:prstGeom prst="rect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QuGAN System Architecture</a:t>
            </a:r>
            <a:endParaRPr/>
          </a:p>
        </p:txBody>
      </p:sp>
      <p:sp>
        <p:nvSpPr>
          <p:cNvPr id="197" name="Google Shape;197;p13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0290" y="1272301"/>
            <a:ext cx="7591420" cy="515251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FFB"/>
              </a:buClr>
              <a:buSzPts val="4400"/>
              <a:buFont typeface="Noto Sans KR"/>
              <a:buNone/>
            </a:pPr>
            <a:r>
              <a:rPr lang="ko-KR" sz="4400">
                <a:solidFill>
                  <a:srgbClr val="FBFFFB"/>
                </a:solidFill>
              </a:rPr>
              <a:t>QuGAN Data Flow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QuGAN DATA FLOW</a:t>
            </a:r>
            <a:endParaRPr/>
          </a:p>
        </p:txBody>
      </p:sp>
      <p:sp>
        <p:nvSpPr>
          <p:cNvPr id="209" name="Google Shape;209;p15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10" name="Google Shape;210;p15"/>
          <p:cNvGrpSpPr/>
          <p:nvPr/>
        </p:nvGrpSpPr>
        <p:grpSpPr>
          <a:xfrm>
            <a:off x="625709" y="1417829"/>
            <a:ext cx="10955010" cy="4952647"/>
            <a:chOff x="453937" y="1331024"/>
            <a:chExt cx="10955010" cy="4952648"/>
          </a:xfrm>
        </p:grpSpPr>
        <p:grpSp>
          <p:nvGrpSpPr>
            <p:cNvPr id="211" name="Google Shape;211;p15"/>
            <p:cNvGrpSpPr/>
            <p:nvPr/>
          </p:nvGrpSpPr>
          <p:grpSpPr>
            <a:xfrm>
              <a:off x="453937" y="1953734"/>
              <a:ext cx="1820975" cy="1443901"/>
              <a:chOff x="453937" y="1953734"/>
              <a:chExt cx="1820975" cy="1443901"/>
            </a:xfrm>
          </p:grpSpPr>
          <p:pic>
            <p:nvPicPr>
              <p:cNvPr id="212" name="Google Shape;212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3937" y="1953734"/>
                <a:ext cx="1820975" cy="1089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" name="Google Shape;213;p15"/>
              <p:cNvSpPr txBox="1"/>
              <p:nvPr/>
            </p:nvSpPr>
            <p:spPr>
              <a:xfrm>
                <a:off x="844089" y="3151414"/>
                <a:ext cx="104067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00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Mnist Dataset</a:t>
                </a:r>
                <a:endParaRPr b="1" sz="10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214" name="Google Shape;214;p15"/>
            <p:cNvGrpSpPr/>
            <p:nvPr/>
          </p:nvGrpSpPr>
          <p:grpSpPr>
            <a:xfrm>
              <a:off x="2538667" y="1442726"/>
              <a:ext cx="792205" cy="1158008"/>
              <a:chOff x="2538667" y="1442726"/>
              <a:chExt cx="792205" cy="1158008"/>
            </a:xfrm>
          </p:grpSpPr>
          <p:pic>
            <p:nvPicPr>
              <p:cNvPr descr="Dataset Icons - Free SVG &amp; PNG Dataset Images - Noun Project" id="215" name="Google Shape;215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67539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" name="Google Shape;216;p15"/>
              <p:cNvSpPr txBox="1"/>
              <p:nvPr/>
            </p:nvSpPr>
            <p:spPr>
              <a:xfrm>
                <a:off x="2538667" y="2216013"/>
                <a:ext cx="792205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Train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60,000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217" name="Google Shape;217;p15"/>
            <p:cNvGrpSpPr/>
            <p:nvPr/>
          </p:nvGrpSpPr>
          <p:grpSpPr>
            <a:xfrm>
              <a:off x="2567539" y="2845009"/>
              <a:ext cx="734459" cy="1143372"/>
              <a:chOff x="2567539" y="2886929"/>
              <a:chExt cx="734459" cy="1143372"/>
            </a:xfrm>
          </p:grpSpPr>
          <p:pic>
            <p:nvPicPr>
              <p:cNvPr descr="Dataset Icons - Free SVG &amp; PNG Dataset Images - Noun Project" id="218" name="Google Shape;21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567539" y="2886929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15"/>
              <p:cNvSpPr txBox="1"/>
              <p:nvPr/>
            </p:nvSpPr>
            <p:spPr>
              <a:xfrm>
                <a:off x="2569125" y="3645580"/>
                <a:ext cx="731290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Test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cxnSp>
          <p:nvCxnSpPr>
            <p:cNvPr id="220" name="Google Shape;220;p15"/>
            <p:cNvCxnSpPr>
              <a:stCxn id="215" idx="3"/>
              <a:endCxn id="221" idx="1"/>
            </p:cNvCxnSpPr>
            <p:nvPr/>
          </p:nvCxnSpPr>
          <p:spPr>
            <a:xfrm>
              <a:off x="3301998" y="1809956"/>
              <a:ext cx="65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22" name="Google Shape;222;p15"/>
            <p:cNvGrpSpPr/>
            <p:nvPr/>
          </p:nvGrpSpPr>
          <p:grpSpPr>
            <a:xfrm>
              <a:off x="3847593" y="1442726"/>
              <a:ext cx="946093" cy="1158008"/>
              <a:chOff x="3847593" y="1442726"/>
              <a:chExt cx="946093" cy="1158008"/>
            </a:xfrm>
          </p:grpSpPr>
          <p:pic>
            <p:nvPicPr>
              <p:cNvPr descr="Dataset Icons - Free SVG &amp; PNG Dataset Images - Noun Project" id="221" name="Google Shape;221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53410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3" name="Google Shape;223;p15"/>
              <p:cNvSpPr txBox="1"/>
              <p:nvPr/>
            </p:nvSpPr>
            <p:spPr>
              <a:xfrm>
                <a:off x="3847593" y="2216013"/>
                <a:ext cx="946093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Sample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224" name="Google Shape;224;p15"/>
            <p:cNvSpPr txBox="1"/>
            <p:nvPr/>
          </p:nvSpPr>
          <p:spPr>
            <a:xfrm>
              <a:off x="3232187" y="1442726"/>
              <a:ext cx="724878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Sampling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25" name="Google Shape;225;p15"/>
            <p:cNvCxnSpPr>
              <a:stCxn id="226" idx="3"/>
              <a:endCxn id="227" idx="1"/>
            </p:cNvCxnSpPr>
            <p:nvPr/>
          </p:nvCxnSpPr>
          <p:spPr>
            <a:xfrm>
              <a:off x="6544912" y="2211453"/>
              <a:ext cx="1686900" cy="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8" name="Google Shape;228;p15"/>
            <p:cNvSpPr txBox="1"/>
            <p:nvPr/>
          </p:nvSpPr>
          <p:spPr>
            <a:xfrm>
              <a:off x="6911851" y="1938658"/>
              <a:ext cx="76174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1D Flatten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229" name="Google Shape;229;p15"/>
            <p:cNvGrpSpPr/>
            <p:nvPr/>
          </p:nvGrpSpPr>
          <p:grpSpPr>
            <a:xfrm>
              <a:off x="8231742" y="1778228"/>
              <a:ext cx="2971908" cy="566629"/>
              <a:chOff x="8231742" y="1778228"/>
              <a:chExt cx="2971908" cy="566629"/>
            </a:xfrm>
          </p:grpSpPr>
          <p:grpSp>
            <p:nvGrpSpPr>
              <p:cNvPr id="230" name="Google Shape;230;p15"/>
              <p:cNvGrpSpPr/>
              <p:nvPr/>
            </p:nvGrpSpPr>
            <p:grpSpPr>
              <a:xfrm>
                <a:off x="8231742" y="1778228"/>
                <a:ext cx="2617168" cy="521391"/>
                <a:chOff x="8231742" y="1778228"/>
                <a:chExt cx="2617168" cy="521391"/>
              </a:xfrm>
            </p:grpSpPr>
            <p:sp>
              <p:nvSpPr>
                <p:cNvPr id="227" name="Google Shape;227;p15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231" name="Google Shape;231;p15"/>
                <p:cNvSpPr txBox="1"/>
                <p:nvPr/>
              </p:nvSpPr>
              <p:spPr>
                <a:xfrm>
                  <a:off x="9095333" y="1778228"/>
                  <a:ext cx="889987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784 (=28*28)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232" name="Google Shape;232;p15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233" name="Google Shape;233;p15"/>
              <p:cNvGrpSpPr/>
              <p:nvPr/>
            </p:nvGrpSpPr>
            <p:grpSpPr>
              <a:xfrm>
                <a:off x="10942039" y="2098636"/>
                <a:ext cx="261611" cy="246221"/>
                <a:chOff x="10942039" y="2098636"/>
                <a:chExt cx="261611" cy="246221"/>
              </a:xfrm>
            </p:grpSpPr>
            <p:sp>
              <p:nvSpPr>
                <p:cNvPr id="234" name="Google Shape;234;p15"/>
                <p:cNvSpPr txBox="1"/>
                <p:nvPr/>
              </p:nvSpPr>
              <p:spPr>
                <a:xfrm>
                  <a:off x="10942040" y="2098636"/>
                  <a:ext cx="26161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235" name="Google Shape;235;p15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cxnSp>
          <p:nvCxnSpPr>
            <p:cNvPr id="236" name="Google Shape;236;p15"/>
            <p:cNvCxnSpPr/>
            <p:nvPr/>
          </p:nvCxnSpPr>
          <p:spPr>
            <a:xfrm>
              <a:off x="9540326" y="2299619"/>
              <a:ext cx="0" cy="4887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37" name="Google Shape;237;p15"/>
            <p:cNvSpPr txBox="1"/>
            <p:nvPr/>
          </p:nvSpPr>
          <p:spPr>
            <a:xfrm>
              <a:off x="9614541" y="2420888"/>
              <a:ext cx="1324402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/255 *Normalization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38" name="Google Shape;238;p15"/>
            <p:cNvCxnSpPr>
              <a:stCxn id="239" idx="2"/>
              <a:endCxn id="240" idx="0"/>
            </p:cNvCxnSpPr>
            <p:nvPr/>
          </p:nvCxnSpPr>
          <p:spPr>
            <a:xfrm>
              <a:off x="9540327" y="3217852"/>
              <a:ext cx="0" cy="29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1" name="Google Shape;241;p15"/>
            <p:cNvSpPr txBox="1"/>
            <p:nvPr/>
          </p:nvSpPr>
          <p:spPr>
            <a:xfrm>
              <a:off x="9701428" y="3254193"/>
              <a:ext cx="1707519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 (Downscale : 784 → 4)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Min-Max Scaling [0,1]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242" name="Google Shape;24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20699" y="3598229"/>
              <a:ext cx="706964" cy="533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28187" y="4101255"/>
              <a:ext cx="493355" cy="522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4" name="Google Shape;244;p15"/>
            <p:cNvCxnSpPr/>
            <p:nvPr/>
          </p:nvCxnSpPr>
          <p:spPr>
            <a:xfrm>
              <a:off x="9539281" y="4034956"/>
              <a:ext cx="1045" cy="6525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5" name="Google Shape;245;p15"/>
            <p:cNvSpPr txBox="1"/>
            <p:nvPr/>
          </p:nvSpPr>
          <p:spPr>
            <a:xfrm>
              <a:off x="9598511" y="4238129"/>
              <a:ext cx="105990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Qubit encoding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Quantum-Computing Icons - Free SVG &amp; PNG Quantum-Computing Images - Noun  Project" id="246" name="Google Shape;246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06481" y="4687523"/>
              <a:ext cx="667690" cy="66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5"/>
            <p:cNvSpPr txBox="1"/>
            <p:nvPr/>
          </p:nvSpPr>
          <p:spPr>
            <a:xfrm>
              <a:off x="9856611" y="4895028"/>
              <a:ext cx="138531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Quantum Computing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48" name="Google Shape;248;p15"/>
            <p:cNvCxnSpPr>
              <a:endCxn id="249" idx="0"/>
            </p:cNvCxnSpPr>
            <p:nvPr/>
          </p:nvCxnSpPr>
          <p:spPr>
            <a:xfrm>
              <a:off x="9540327" y="5442819"/>
              <a:ext cx="0" cy="19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0" name="Google Shape;250;p15"/>
            <p:cNvCxnSpPr>
              <a:stCxn id="251" idx="1"/>
              <a:endCxn id="252" idx="3"/>
            </p:cNvCxnSpPr>
            <p:nvPr/>
          </p:nvCxnSpPr>
          <p:spPr>
            <a:xfrm rot="10800000">
              <a:off x="7855036" y="6086248"/>
              <a:ext cx="13407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3" name="Google Shape;253;p15"/>
            <p:cNvSpPr txBox="1"/>
            <p:nvPr/>
          </p:nvSpPr>
          <p:spPr>
            <a:xfrm>
              <a:off x="7885209" y="5898951"/>
              <a:ext cx="1314651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Inverse PCA 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(Upscale : 4 → 784)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54" name="Google Shape;254;p15"/>
            <p:cNvCxnSpPr>
              <a:stCxn id="255" idx="0"/>
              <a:endCxn id="256" idx="2"/>
            </p:cNvCxnSpPr>
            <p:nvPr/>
          </p:nvCxnSpPr>
          <p:spPr>
            <a:xfrm rot="10800000">
              <a:off x="5989979" y="5127653"/>
              <a:ext cx="0" cy="52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15"/>
            <p:cNvSpPr txBox="1"/>
            <p:nvPr/>
          </p:nvSpPr>
          <p:spPr>
            <a:xfrm>
              <a:off x="6049948" y="5212610"/>
              <a:ext cx="671980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Reshape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58" name="Google Shape;258;p15"/>
            <p:cNvCxnSpPr>
              <a:stCxn id="259" idx="2"/>
              <a:endCxn id="260" idx="0"/>
            </p:cNvCxnSpPr>
            <p:nvPr/>
          </p:nvCxnSpPr>
          <p:spPr>
            <a:xfrm flipH="1">
              <a:off x="5966628" y="2774926"/>
              <a:ext cx="7500" cy="95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61" name="Google Shape;261;p15"/>
            <p:cNvSpPr txBox="1"/>
            <p:nvPr/>
          </p:nvSpPr>
          <p:spPr>
            <a:xfrm>
              <a:off x="5932605" y="3134192"/>
              <a:ext cx="70243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Compare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262" name="Google Shape;262;p15"/>
            <p:cNvGrpSpPr/>
            <p:nvPr/>
          </p:nvGrpSpPr>
          <p:grpSpPr>
            <a:xfrm>
              <a:off x="4932453" y="1331024"/>
              <a:ext cx="1612459" cy="1443902"/>
              <a:chOff x="4932453" y="1331024"/>
              <a:chExt cx="1612459" cy="1443902"/>
            </a:xfrm>
          </p:grpSpPr>
          <p:grpSp>
            <p:nvGrpSpPr>
              <p:cNvPr id="263" name="Google Shape;263;p15"/>
              <p:cNvGrpSpPr/>
              <p:nvPr/>
            </p:nvGrpSpPr>
            <p:grpSpPr>
              <a:xfrm>
                <a:off x="4932453" y="1686459"/>
                <a:ext cx="412292" cy="1006222"/>
                <a:chOff x="4932453" y="1671455"/>
                <a:chExt cx="412292" cy="1006222"/>
              </a:xfrm>
            </p:grpSpPr>
            <p:sp>
              <p:nvSpPr>
                <p:cNvPr id="264" name="Google Shape;264;p15"/>
                <p:cNvSpPr txBox="1"/>
                <p:nvPr/>
              </p:nvSpPr>
              <p:spPr>
                <a:xfrm>
                  <a:off x="4932453" y="2051456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265" name="Google Shape;265;p15"/>
                <p:cNvCxnSpPr/>
                <p:nvPr/>
              </p:nvCxnSpPr>
              <p:spPr>
                <a:xfrm>
                  <a:off x="5285327" y="1671455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266" name="Google Shape;266;p15"/>
              <p:cNvGrpSpPr/>
              <p:nvPr/>
            </p:nvGrpSpPr>
            <p:grpSpPr>
              <a:xfrm>
                <a:off x="5366083" y="1331024"/>
                <a:ext cx="1178829" cy="1443902"/>
                <a:chOff x="5366083" y="1331024"/>
                <a:chExt cx="1178829" cy="1443902"/>
              </a:xfrm>
            </p:grpSpPr>
            <p:grpSp>
              <p:nvGrpSpPr>
                <p:cNvPr id="267" name="Google Shape;267;p15"/>
                <p:cNvGrpSpPr/>
                <p:nvPr/>
              </p:nvGrpSpPr>
              <p:grpSpPr>
                <a:xfrm>
                  <a:off x="5458875" y="1331024"/>
                  <a:ext cx="1030504" cy="1443902"/>
                  <a:chOff x="5455875" y="1331024"/>
                  <a:chExt cx="1030504" cy="1443902"/>
                </a:xfrm>
              </p:grpSpPr>
              <p:sp>
                <p:nvSpPr>
                  <p:cNvPr id="268" name="Google Shape;268;p15"/>
                  <p:cNvSpPr txBox="1"/>
                  <p:nvPr/>
                </p:nvSpPr>
                <p:spPr>
                  <a:xfrm>
                    <a:off x="5764982" y="1331024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cxnSp>
                <p:nvCxnSpPr>
                  <p:cNvPr id="269" name="Google Shape;269;p15"/>
                  <p:cNvCxnSpPr/>
                  <p:nvPr/>
                </p:nvCxnSpPr>
                <p:spPr>
                  <a:xfrm>
                    <a:off x="5455875" y="1553839"/>
                    <a:ext cx="1030504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triangle"/>
                    <a:tailEnd len="med" w="med" type="triangle"/>
                  </a:ln>
                </p:spPr>
              </p:cxnSp>
              <p:sp>
                <p:nvSpPr>
                  <p:cNvPr id="259" name="Google Shape;259;p15"/>
                  <p:cNvSpPr txBox="1"/>
                  <p:nvPr/>
                </p:nvSpPr>
                <p:spPr>
                  <a:xfrm>
                    <a:off x="5764982" y="2536399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grpSp>
              <p:nvGrpSpPr>
                <p:cNvPr id="270" name="Google Shape;270;p15"/>
                <p:cNvGrpSpPr/>
                <p:nvPr/>
              </p:nvGrpSpPr>
              <p:grpSpPr>
                <a:xfrm>
                  <a:off x="5366083" y="1627688"/>
                  <a:ext cx="1178829" cy="1123765"/>
                  <a:chOff x="5366083" y="1627688"/>
                  <a:chExt cx="1178829" cy="1123765"/>
                </a:xfrm>
              </p:grpSpPr>
              <p:pic>
                <p:nvPicPr>
                  <p:cNvPr id="226" name="Google Shape;226;p15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5464912" y="1671453"/>
                    <a:ext cx="1080000" cy="10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71" name="Google Shape;271;p15"/>
                  <p:cNvSpPr txBox="1"/>
                  <p:nvPr/>
                </p:nvSpPr>
                <p:spPr>
                  <a:xfrm>
                    <a:off x="5366083" y="1627688"/>
                    <a:ext cx="667170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1" lang="ko-KR" sz="9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Original</a:t>
                    </a:r>
                    <a:endParaRPr b="1" i="1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</p:grpSp>
        </p:grpSp>
        <p:grpSp>
          <p:nvGrpSpPr>
            <p:cNvPr id="272" name="Google Shape;272;p15"/>
            <p:cNvGrpSpPr/>
            <p:nvPr/>
          </p:nvGrpSpPr>
          <p:grpSpPr>
            <a:xfrm>
              <a:off x="4932453" y="3734354"/>
              <a:ext cx="1597527" cy="1393322"/>
              <a:chOff x="4932453" y="3734354"/>
              <a:chExt cx="1597527" cy="1393322"/>
            </a:xfrm>
          </p:grpSpPr>
          <p:grpSp>
            <p:nvGrpSpPr>
              <p:cNvPr id="273" name="Google Shape;273;p15"/>
              <p:cNvGrpSpPr/>
              <p:nvPr/>
            </p:nvGrpSpPr>
            <p:grpSpPr>
              <a:xfrm>
                <a:off x="4932453" y="4082219"/>
                <a:ext cx="412292" cy="1006222"/>
                <a:chOff x="4932453" y="4068764"/>
                <a:chExt cx="412292" cy="1006222"/>
              </a:xfrm>
            </p:grpSpPr>
            <p:sp>
              <p:nvSpPr>
                <p:cNvPr id="274" name="Google Shape;274;p15"/>
                <p:cNvSpPr txBox="1"/>
                <p:nvPr/>
              </p:nvSpPr>
              <p:spPr>
                <a:xfrm>
                  <a:off x="4932453" y="4448765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275" name="Google Shape;275;p15"/>
                <p:cNvCxnSpPr/>
                <p:nvPr/>
              </p:nvCxnSpPr>
              <p:spPr>
                <a:xfrm>
                  <a:off x="5285327" y="4068764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276" name="Google Shape;276;p15"/>
              <p:cNvGrpSpPr/>
              <p:nvPr/>
            </p:nvGrpSpPr>
            <p:grpSpPr>
              <a:xfrm>
                <a:off x="5393205" y="4042985"/>
                <a:ext cx="1136775" cy="1084691"/>
                <a:chOff x="5393205" y="4042985"/>
                <a:chExt cx="1136775" cy="1084691"/>
              </a:xfrm>
            </p:grpSpPr>
            <p:pic>
              <p:nvPicPr>
                <p:cNvPr id="256" name="Google Shape;256;p15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5449980" y="4047676"/>
                  <a:ext cx="108000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7" name="Google Shape;277;p15"/>
                <p:cNvSpPr txBox="1"/>
                <p:nvPr/>
              </p:nvSpPr>
              <p:spPr>
                <a:xfrm>
                  <a:off x="5393205" y="4042985"/>
                  <a:ext cx="805029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1" lang="ko-KR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Generated</a:t>
                  </a:r>
                  <a:endParaRPr b="1" i="1"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</p:grpSp>
          <p:grpSp>
            <p:nvGrpSpPr>
              <p:cNvPr id="278" name="Google Shape;278;p15"/>
              <p:cNvGrpSpPr/>
              <p:nvPr/>
            </p:nvGrpSpPr>
            <p:grpSpPr>
              <a:xfrm>
                <a:off x="5451409" y="3734354"/>
                <a:ext cx="1030504" cy="238527"/>
                <a:chOff x="5455875" y="1331024"/>
                <a:chExt cx="1030504" cy="238527"/>
              </a:xfrm>
            </p:grpSpPr>
            <p:sp>
              <p:nvSpPr>
                <p:cNvPr id="260" name="Google Shape;260;p15"/>
                <p:cNvSpPr txBox="1"/>
                <p:nvPr/>
              </p:nvSpPr>
              <p:spPr>
                <a:xfrm>
                  <a:off x="5764982" y="1331024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279" name="Google Shape;279;p15"/>
                <p:cNvCxnSpPr/>
                <p:nvPr/>
              </p:nvCxnSpPr>
              <p:spPr>
                <a:xfrm>
                  <a:off x="5455875" y="1553839"/>
                  <a:ext cx="1030504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280" name="Google Shape;280;p15"/>
            <p:cNvGrpSpPr/>
            <p:nvPr/>
          </p:nvGrpSpPr>
          <p:grpSpPr>
            <a:xfrm>
              <a:off x="8231742" y="2788378"/>
              <a:ext cx="2617168" cy="429474"/>
              <a:chOff x="8231742" y="2788378"/>
              <a:chExt cx="2617168" cy="429474"/>
            </a:xfrm>
          </p:grpSpPr>
          <p:sp>
            <p:nvSpPr>
              <p:cNvPr id="239" name="Google Shape;239;p15"/>
              <p:cNvSpPr txBox="1"/>
              <p:nvPr/>
            </p:nvSpPr>
            <p:spPr>
              <a:xfrm>
                <a:off x="8768321" y="2979325"/>
                <a:ext cx="1544012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Data distribution = [0, 1]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8231742" y="2788378"/>
                <a:ext cx="2617168" cy="169349"/>
              </a:xfrm>
              <a:prstGeom prst="rect">
                <a:avLst/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5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282" name="Google Shape;282;p15"/>
            <p:cNvGrpSpPr/>
            <p:nvPr/>
          </p:nvGrpSpPr>
          <p:grpSpPr>
            <a:xfrm>
              <a:off x="9195736" y="3513565"/>
              <a:ext cx="1015063" cy="566714"/>
              <a:chOff x="9195736" y="3513565"/>
              <a:chExt cx="1015063" cy="566714"/>
            </a:xfrm>
          </p:grpSpPr>
          <p:grpSp>
            <p:nvGrpSpPr>
              <p:cNvPr id="283" name="Google Shape;283;p15"/>
              <p:cNvGrpSpPr/>
              <p:nvPr/>
            </p:nvGrpSpPr>
            <p:grpSpPr>
              <a:xfrm>
                <a:off x="9195736" y="3513565"/>
                <a:ext cx="689181" cy="521391"/>
                <a:chOff x="8231742" y="1778228"/>
                <a:chExt cx="2617168" cy="521391"/>
              </a:xfrm>
            </p:grpSpPr>
            <p:sp>
              <p:nvSpPr>
                <p:cNvPr id="284" name="Google Shape;284;p15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240" name="Google Shape;240;p15"/>
                <p:cNvSpPr txBox="1"/>
                <p:nvPr/>
              </p:nvSpPr>
              <p:spPr>
                <a:xfrm>
                  <a:off x="9043595" y="1778228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4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286" name="Google Shape;286;p15"/>
              <p:cNvGrpSpPr/>
              <p:nvPr/>
            </p:nvGrpSpPr>
            <p:grpSpPr>
              <a:xfrm>
                <a:off x="9949189" y="3834058"/>
                <a:ext cx="261610" cy="246221"/>
                <a:chOff x="10899930" y="2098636"/>
                <a:chExt cx="993465" cy="246221"/>
              </a:xfrm>
            </p:grpSpPr>
            <p:sp>
              <p:nvSpPr>
                <p:cNvPr id="287" name="Google Shape;287;p15"/>
                <p:cNvSpPr txBox="1"/>
                <p:nvPr/>
              </p:nvSpPr>
              <p:spPr>
                <a:xfrm>
                  <a:off x="10899930" y="2098636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288" name="Google Shape;288;p15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251" name="Google Shape;251;p15"/>
            <p:cNvSpPr/>
            <p:nvPr/>
          </p:nvSpPr>
          <p:spPr>
            <a:xfrm>
              <a:off x="9195736" y="6005473"/>
              <a:ext cx="689181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9" name="Google Shape;249;p15"/>
            <p:cNvSpPr txBox="1"/>
            <p:nvPr/>
          </p:nvSpPr>
          <p:spPr>
            <a:xfrm>
              <a:off x="9409522" y="5641119"/>
              <a:ext cx="26161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89" name="Google Shape;289;p15"/>
            <p:cNvCxnSpPr/>
            <p:nvPr/>
          </p:nvCxnSpPr>
          <p:spPr>
            <a:xfrm>
              <a:off x="9195736" y="5889187"/>
              <a:ext cx="68918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90" name="Google Shape;290;p15"/>
            <p:cNvGrpSpPr/>
            <p:nvPr/>
          </p:nvGrpSpPr>
          <p:grpSpPr>
            <a:xfrm>
              <a:off x="9949189" y="5967037"/>
              <a:ext cx="261610" cy="246221"/>
              <a:chOff x="10899930" y="2098636"/>
              <a:chExt cx="993465" cy="246221"/>
            </a:xfrm>
          </p:grpSpPr>
          <p:sp>
            <p:nvSpPr>
              <p:cNvPr id="291" name="Google Shape;291;p15"/>
              <p:cNvSpPr txBox="1"/>
              <p:nvPr/>
            </p:nvSpPr>
            <p:spPr>
              <a:xfrm>
                <a:off x="10899930" y="2098636"/>
                <a:ext cx="99346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292" name="Google Shape;292;p15"/>
              <p:cNvCxnSpPr/>
              <p:nvPr/>
            </p:nvCxnSpPr>
            <p:spPr>
              <a:xfrm>
                <a:off x="10942039" y="2125667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293" name="Google Shape;293;p15"/>
            <p:cNvSpPr/>
            <p:nvPr/>
          </p:nvSpPr>
          <p:spPr>
            <a:xfrm>
              <a:off x="4995959" y="6005473"/>
              <a:ext cx="2617168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5" name="Google Shape;255;p15"/>
            <p:cNvSpPr txBox="1"/>
            <p:nvPr/>
          </p:nvSpPr>
          <p:spPr>
            <a:xfrm>
              <a:off x="5544985" y="5652053"/>
              <a:ext cx="88998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784 (=28*28)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294" name="Google Shape;294;p15"/>
            <p:cNvCxnSpPr/>
            <p:nvPr/>
          </p:nvCxnSpPr>
          <p:spPr>
            <a:xfrm>
              <a:off x="4995959" y="5900121"/>
              <a:ext cx="26171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95" name="Google Shape;295;p15"/>
            <p:cNvGrpSpPr/>
            <p:nvPr/>
          </p:nvGrpSpPr>
          <p:grpSpPr>
            <a:xfrm>
              <a:off x="7641492" y="5967037"/>
              <a:ext cx="213520" cy="238527"/>
              <a:chOff x="7674150" y="5967037"/>
              <a:chExt cx="213520" cy="238527"/>
            </a:xfrm>
          </p:grpSpPr>
          <p:sp>
            <p:nvSpPr>
              <p:cNvPr id="252" name="Google Shape;252;p15"/>
              <p:cNvSpPr txBox="1"/>
              <p:nvPr/>
            </p:nvSpPr>
            <p:spPr>
              <a:xfrm>
                <a:off x="7674150" y="5967037"/>
                <a:ext cx="213520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296" name="Google Shape;296;p15"/>
              <p:cNvCxnSpPr/>
              <p:nvPr/>
            </p:nvCxnSpPr>
            <p:spPr>
              <a:xfrm>
                <a:off x="7706256" y="5999492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Dimension Reduction</a:t>
            </a:r>
            <a:endParaRPr/>
          </a:p>
        </p:txBody>
      </p:sp>
      <p:sp>
        <p:nvSpPr>
          <p:cNvPr id="302" name="Google Shape;302;p16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303" name="Google Shape;303;p16"/>
          <p:cNvGrpSpPr/>
          <p:nvPr/>
        </p:nvGrpSpPr>
        <p:grpSpPr>
          <a:xfrm>
            <a:off x="625709" y="1417829"/>
            <a:ext cx="10992681" cy="4952647"/>
            <a:chOff x="453937" y="1331024"/>
            <a:chExt cx="10992681" cy="4952648"/>
          </a:xfrm>
        </p:grpSpPr>
        <p:grpSp>
          <p:nvGrpSpPr>
            <p:cNvPr id="304" name="Google Shape;304;p16"/>
            <p:cNvGrpSpPr/>
            <p:nvPr/>
          </p:nvGrpSpPr>
          <p:grpSpPr>
            <a:xfrm>
              <a:off x="453937" y="1953734"/>
              <a:ext cx="1820975" cy="1443901"/>
              <a:chOff x="453937" y="1953734"/>
              <a:chExt cx="1820975" cy="1443901"/>
            </a:xfrm>
          </p:grpSpPr>
          <p:pic>
            <p:nvPicPr>
              <p:cNvPr id="305" name="Google Shape;305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3937" y="1953734"/>
                <a:ext cx="1820975" cy="1089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6" name="Google Shape;306;p16"/>
              <p:cNvSpPr txBox="1"/>
              <p:nvPr/>
            </p:nvSpPr>
            <p:spPr>
              <a:xfrm>
                <a:off x="846494" y="3151414"/>
                <a:ext cx="10358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00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Mnist Dataset</a:t>
                </a:r>
                <a:endParaRPr b="1" sz="10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07" name="Google Shape;307;p16"/>
            <p:cNvGrpSpPr/>
            <p:nvPr/>
          </p:nvGrpSpPr>
          <p:grpSpPr>
            <a:xfrm>
              <a:off x="2529049" y="1442726"/>
              <a:ext cx="811441" cy="1158008"/>
              <a:chOff x="2529049" y="1442726"/>
              <a:chExt cx="811441" cy="1158008"/>
            </a:xfrm>
          </p:grpSpPr>
          <p:pic>
            <p:nvPicPr>
              <p:cNvPr descr="Dataset Icons - Free SVG &amp; PNG Dataset Images - Noun Project" id="308" name="Google Shape;308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67539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" name="Google Shape;309;p16"/>
              <p:cNvSpPr txBox="1"/>
              <p:nvPr/>
            </p:nvSpPr>
            <p:spPr>
              <a:xfrm>
                <a:off x="2529049" y="2216013"/>
                <a:ext cx="81144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Train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60,000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10" name="Google Shape;310;p16"/>
            <p:cNvGrpSpPr/>
            <p:nvPr/>
          </p:nvGrpSpPr>
          <p:grpSpPr>
            <a:xfrm>
              <a:off x="2557904" y="2845009"/>
              <a:ext cx="753732" cy="1143372"/>
              <a:chOff x="2557904" y="2886929"/>
              <a:chExt cx="753732" cy="1143372"/>
            </a:xfrm>
          </p:grpSpPr>
          <p:pic>
            <p:nvPicPr>
              <p:cNvPr descr="Dataset Icons - Free SVG &amp; PNG Dataset Images - Noun Project" id="311" name="Google Shape;311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567539" y="2886929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2" name="Google Shape;312;p16"/>
              <p:cNvSpPr txBox="1"/>
              <p:nvPr/>
            </p:nvSpPr>
            <p:spPr>
              <a:xfrm>
                <a:off x="2557904" y="3645580"/>
                <a:ext cx="753732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Test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cxnSp>
          <p:nvCxnSpPr>
            <p:cNvPr id="313" name="Google Shape;313;p16"/>
            <p:cNvCxnSpPr>
              <a:stCxn id="308" idx="3"/>
              <a:endCxn id="314" idx="1"/>
            </p:cNvCxnSpPr>
            <p:nvPr/>
          </p:nvCxnSpPr>
          <p:spPr>
            <a:xfrm>
              <a:off x="3301998" y="1809956"/>
              <a:ext cx="65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15" name="Google Shape;315;p16"/>
            <p:cNvGrpSpPr/>
            <p:nvPr/>
          </p:nvGrpSpPr>
          <p:grpSpPr>
            <a:xfrm>
              <a:off x="3850799" y="1442726"/>
              <a:ext cx="939681" cy="1158008"/>
              <a:chOff x="3850799" y="1442726"/>
              <a:chExt cx="939681" cy="1158008"/>
            </a:xfrm>
          </p:grpSpPr>
          <p:pic>
            <p:nvPicPr>
              <p:cNvPr descr="Dataset Icons - Free SVG &amp; PNG Dataset Images - Noun Project" id="314" name="Google Shape;314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53410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6" name="Google Shape;316;p16"/>
              <p:cNvSpPr txBox="1"/>
              <p:nvPr/>
            </p:nvSpPr>
            <p:spPr>
              <a:xfrm>
                <a:off x="3850799" y="2216013"/>
                <a:ext cx="93968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Sample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317" name="Google Shape;317;p16"/>
            <p:cNvSpPr txBox="1"/>
            <p:nvPr/>
          </p:nvSpPr>
          <p:spPr>
            <a:xfrm>
              <a:off x="3232187" y="1442726"/>
              <a:ext cx="724878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Sampling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18" name="Google Shape;318;p16"/>
            <p:cNvCxnSpPr>
              <a:stCxn id="319" idx="3"/>
              <a:endCxn id="320" idx="1"/>
            </p:cNvCxnSpPr>
            <p:nvPr/>
          </p:nvCxnSpPr>
          <p:spPr>
            <a:xfrm>
              <a:off x="6544912" y="2211453"/>
              <a:ext cx="1686900" cy="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21" name="Google Shape;321;p16"/>
            <p:cNvSpPr txBox="1"/>
            <p:nvPr/>
          </p:nvSpPr>
          <p:spPr>
            <a:xfrm>
              <a:off x="6911851" y="1938658"/>
              <a:ext cx="76174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1D Flatten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322" name="Google Shape;322;p16"/>
            <p:cNvGrpSpPr/>
            <p:nvPr/>
          </p:nvGrpSpPr>
          <p:grpSpPr>
            <a:xfrm>
              <a:off x="8231742" y="1778228"/>
              <a:ext cx="2971908" cy="566629"/>
              <a:chOff x="8231742" y="1778228"/>
              <a:chExt cx="2971908" cy="566629"/>
            </a:xfrm>
          </p:grpSpPr>
          <p:grpSp>
            <p:nvGrpSpPr>
              <p:cNvPr id="323" name="Google Shape;323;p16"/>
              <p:cNvGrpSpPr/>
              <p:nvPr/>
            </p:nvGrpSpPr>
            <p:grpSpPr>
              <a:xfrm>
                <a:off x="8231742" y="1778228"/>
                <a:ext cx="2617168" cy="521391"/>
                <a:chOff x="8231742" y="1778228"/>
                <a:chExt cx="2617168" cy="521391"/>
              </a:xfrm>
            </p:grpSpPr>
            <p:sp>
              <p:nvSpPr>
                <p:cNvPr id="320" name="Google Shape;320;p16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324" name="Google Shape;324;p16"/>
                <p:cNvSpPr txBox="1"/>
                <p:nvPr/>
              </p:nvSpPr>
              <p:spPr>
                <a:xfrm>
                  <a:off x="9095333" y="1778228"/>
                  <a:ext cx="889987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784 (=28*28)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325" name="Google Shape;325;p16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326" name="Google Shape;326;p16"/>
              <p:cNvGrpSpPr/>
              <p:nvPr/>
            </p:nvGrpSpPr>
            <p:grpSpPr>
              <a:xfrm>
                <a:off x="10942039" y="2098636"/>
                <a:ext cx="261611" cy="246221"/>
                <a:chOff x="10942039" y="2098636"/>
                <a:chExt cx="261611" cy="246221"/>
              </a:xfrm>
            </p:grpSpPr>
            <p:sp>
              <p:nvSpPr>
                <p:cNvPr id="327" name="Google Shape;327;p16"/>
                <p:cNvSpPr txBox="1"/>
                <p:nvPr/>
              </p:nvSpPr>
              <p:spPr>
                <a:xfrm>
                  <a:off x="10942040" y="2098636"/>
                  <a:ext cx="26161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328" name="Google Shape;328;p16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cxnSp>
          <p:nvCxnSpPr>
            <p:cNvPr id="329" name="Google Shape;329;p16"/>
            <p:cNvCxnSpPr/>
            <p:nvPr/>
          </p:nvCxnSpPr>
          <p:spPr>
            <a:xfrm>
              <a:off x="9540326" y="2299619"/>
              <a:ext cx="0" cy="4887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30" name="Google Shape;330;p16"/>
            <p:cNvSpPr txBox="1"/>
            <p:nvPr/>
          </p:nvSpPr>
          <p:spPr>
            <a:xfrm>
              <a:off x="9611335" y="2420888"/>
              <a:ext cx="1330814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/255 *Normalization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31" name="Google Shape;331;p16"/>
            <p:cNvCxnSpPr>
              <a:stCxn id="332" idx="2"/>
              <a:endCxn id="333" idx="0"/>
            </p:cNvCxnSpPr>
            <p:nvPr/>
          </p:nvCxnSpPr>
          <p:spPr>
            <a:xfrm>
              <a:off x="9540327" y="3217852"/>
              <a:ext cx="0" cy="29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34" name="Google Shape;334;p16"/>
            <p:cNvSpPr txBox="1"/>
            <p:nvPr/>
          </p:nvSpPr>
          <p:spPr>
            <a:xfrm>
              <a:off x="9663758" y="3254193"/>
              <a:ext cx="1782860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 (Downscale : 784 → 4)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Min-Max Scaling [0,1]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335" name="Google Shape;335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20699" y="3598229"/>
              <a:ext cx="706964" cy="533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28187" y="4101255"/>
              <a:ext cx="493355" cy="522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7" name="Google Shape;337;p16"/>
            <p:cNvCxnSpPr/>
            <p:nvPr/>
          </p:nvCxnSpPr>
          <p:spPr>
            <a:xfrm>
              <a:off x="9539281" y="4034956"/>
              <a:ext cx="1045" cy="6525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38" name="Google Shape;338;p16"/>
            <p:cNvSpPr txBox="1"/>
            <p:nvPr/>
          </p:nvSpPr>
          <p:spPr>
            <a:xfrm>
              <a:off x="9600114" y="4238129"/>
              <a:ext cx="1056701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Qubit encoding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Quantum-Computing Icons - Free SVG &amp; PNG Quantum-Computing Images - Noun  Project" id="339" name="Google Shape;339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06481" y="4687523"/>
              <a:ext cx="667690" cy="66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16"/>
            <p:cNvSpPr txBox="1"/>
            <p:nvPr/>
          </p:nvSpPr>
          <p:spPr>
            <a:xfrm>
              <a:off x="9856611" y="4895028"/>
              <a:ext cx="138531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Quantum Computing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41" name="Google Shape;341;p16"/>
            <p:cNvCxnSpPr>
              <a:endCxn id="342" idx="0"/>
            </p:cNvCxnSpPr>
            <p:nvPr/>
          </p:nvCxnSpPr>
          <p:spPr>
            <a:xfrm>
              <a:off x="9540327" y="5442819"/>
              <a:ext cx="0" cy="19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3" name="Google Shape;343;p16"/>
            <p:cNvCxnSpPr>
              <a:stCxn id="344" idx="1"/>
              <a:endCxn id="345" idx="3"/>
            </p:cNvCxnSpPr>
            <p:nvPr/>
          </p:nvCxnSpPr>
          <p:spPr>
            <a:xfrm rot="10800000">
              <a:off x="7855036" y="6086248"/>
              <a:ext cx="13407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6" name="Google Shape;346;p16"/>
            <p:cNvSpPr txBox="1"/>
            <p:nvPr/>
          </p:nvSpPr>
          <p:spPr>
            <a:xfrm>
              <a:off x="7885209" y="5898951"/>
              <a:ext cx="1314651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Inverse PCA 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(Upscale : 4 → 784)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47" name="Google Shape;347;p16"/>
            <p:cNvCxnSpPr>
              <a:stCxn id="348" idx="0"/>
              <a:endCxn id="349" idx="2"/>
            </p:cNvCxnSpPr>
            <p:nvPr/>
          </p:nvCxnSpPr>
          <p:spPr>
            <a:xfrm rot="10800000">
              <a:off x="5989979" y="5127653"/>
              <a:ext cx="0" cy="52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0" name="Google Shape;350;p16"/>
            <p:cNvSpPr txBox="1"/>
            <p:nvPr/>
          </p:nvSpPr>
          <p:spPr>
            <a:xfrm>
              <a:off x="6049948" y="5212610"/>
              <a:ext cx="671980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Reshape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51" name="Google Shape;351;p16"/>
            <p:cNvCxnSpPr>
              <a:stCxn id="352" idx="2"/>
              <a:endCxn id="353" idx="0"/>
            </p:cNvCxnSpPr>
            <p:nvPr/>
          </p:nvCxnSpPr>
          <p:spPr>
            <a:xfrm flipH="1">
              <a:off x="5966628" y="2774926"/>
              <a:ext cx="7500" cy="95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54" name="Google Shape;354;p16"/>
            <p:cNvSpPr txBox="1"/>
            <p:nvPr/>
          </p:nvSpPr>
          <p:spPr>
            <a:xfrm>
              <a:off x="5932605" y="3134192"/>
              <a:ext cx="70243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Compare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355" name="Google Shape;355;p16"/>
            <p:cNvGrpSpPr/>
            <p:nvPr/>
          </p:nvGrpSpPr>
          <p:grpSpPr>
            <a:xfrm>
              <a:off x="4932453" y="1331024"/>
              <a:ext cx="1612459" cy="1443902"/>
              <a:chOff x="4932453" y="1331024"/>
              <a:chExt cx="1612459" cy="1443902"/>
            </a:xfrm>
          </p:grpSpPr>
          <p:grpSp>
            <p:nvGrpSpPr>
              <p:cNvPr id="356" name="Google Shape;356;p16"/>
              <p:cNvGrpSpPr/>
              <p:nvPr/>
            </p:nvGrpSpPr>
            <p:grpSpPr>
              <a:xfrm>
                <a:off x="4932453" y="1686459"/>
                <a:ext cx="412292" cy="1006222"/>
                <a:chOff x="4932453" y="1671455"/>
                <a:chExt cx="412292" cy="1006222"/>
              </a:xfrm>
            </p:grpSpPr>
            <p:sp>
              <p:nvSpPr>
                <p:cNvPr id="357" name="Google Shape;357;p16"/>
                <p:cNvSpPr txBox="1"/>
                <p:nvPr/>
              </p:nvSpPr>
              <p:spPr>
                <a:xfrm>
                  <a:off x="4932453" y="2051456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358" name="Google Shape;358;p16"/>
                <p:cNvCxnSpPr/>
                <p:nvPr/>
              </p:nvCxnSpPr>
              <p:spPr>
                <a:xfrm>
                  <a:off x="5285327" y="1671455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359" name="Google Shape;359;p16"/>
              <p:cNvGrpSpPr/>
              <p:nvPr/>
            </p:nvGrpSpPr>
            <p:grpSpPr>
              <a:xfrm>
                <a:off x="5366083" y="1331024"/>
                <a:ext cx="1178829" cy="1443902"/>
                <a:chOff x="5366083" y="1331024"/>
                <a:chExt cx="1178829" cy="1443902"/>
              </a:xfrm>
            </p:grpSpPr>
            <p:grpSp>
              <p:nvGrpSpPr>
                <p:cNvPr id="360" name="Google Shape;360;p16"/>
                <p:cNvGrpSpPr/>
                <p:nvPr/>
              </p:nvGrpSpPr>
              <p:grpSpPr>
                <a:xfrm>
                  <a:off x="5458875" y="1331024"/>
                  <a:ext cx="1030504" cy="1443902"/>
                  <a:chOff x="5455875" y="1331024"/>
                  <a:chExt cx="1030504" cy="1443902"/>
                </a:xfrm>
              </p:grpSpPr>
              <p:sp>
                <p:nvSpPr>
                  <p:cNvPr id="361" name="Google Shape;361;p16"/>
                  <p:cNvSpPr txBox="1"/>
                  <p:nvPr/>
                </p:nvSpPr>
                <p:spPr>
                  <a:xfrm>
                    <a:off x="5764982" y="1331024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cxnSp>
                <p:nvCxnSpPr>
                  <p:cNvPr id="362" name="Google Shape;362;p16"/>
                  <p:cNvCxnSpPr/>
                  <p:nvPr/>
                </p:nvCxnSpPr>
                <p:spPr>
                  <a:xfrm>
                    <a:off x="5455875" y="1553839"/>
                    <a:ext cx="1030504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triangle"/>
                    <a:tailEnd len="med" w="med" type="triangle"/>
                  </a:ln>
                </p:spPr>
              </p:cxnSp>
              <p:sp>
                <p:nvSpPr>
                  <p:cNvPr id="352" name="Google Shape;352;p16"/>
                  <p:cNvSpPr txBox="1"/>
                  <p:nvPr/>
                </p:nvSpPr>
                <p:spPr>
                  <a:xfrm>
                    <a:off x="5764982" y="2536399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grpSp>
              <p:nvGrpSpPr>
                <p:cNvPr id="363" name="Google Shape;363;p16"/>
                <p:cNvGrpSpPr/>
                <p:nvPr/>
              </p:nvGrpSpPr>
              <p:grpSpPr>
                <a:xfrm>
                  <a:off x="5366083" y="1627688"/>
                  <a:ext cx="1178829" cy="1123765"/>
                  <a:chOff x="5366083" y="1627688"/>
                  <a:chExt cx="1178829" cy="1123765"/>
                </a:xfrm>
              </p:grpSpPr>
              <p:pic>
                <p:nvPicPr>
                  <p:cNvPr id="319" name="Google Shape;319;p16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5464912" y="1671453"/>
                    <a:ext cx="1080000" cy="10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64" name="Google Shape;364;p16"/>
                  <p:cNvSpPr txBox="1"/>
                  <p:nvPr/>
                </p:nvSpPr>
                <p:spPr>
                  <a:xfrm>
                    <a:off x="5366083" y="1627688"/>
                    <a:ext cx="667170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1" lang="ko-KR" sz="9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Original</a:t>
                    </a:r>
                    <a:endParaRPr b="1" i="1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</p:grpSp>
        </p:grpSp>
        <p:grpSp>
          <p:nvGrpSpPr>
            <p:cNvPr id="365" name="Google Shape;365;p16"/>
            <p:cNvGrpSpPr/>
            <p:nvPr/>
          </p:nvGrpSpPr>
          <p:grpSpPr>
            <a:xfrm>
              <a:off x="4932453" y="3734354"/>
              <a:ext cx="1597527" cy="1393322"/>
              <a:chOff x="4932453" y="3734354"/>
              <a:chExt cx="1597527" cy="1393322"/>
            </a:xfrm>
          </p:grpSpPr>
          <p:grpSp>
            <p:nvGrpSpPr>
              <p:cNvPr id="366" name="Google Shape;366;p16"/>
              <p:cNvGrpSpPr/>
              <p:nvPr/>
            </p:nvGrpSpPr>
            <p:grpSpPr>
              <a:xfrm>
                <a:off x="4932453" y="4082219"/>
                <a:ext cx="412292" cy="1006222"/>
                <a:chOff x="4932453" y="4068764"/>
                <a:chExt cx="412292" cy="1006222"/>
              </a:xfrm>
            </p:grpSpPr>
            <p:sp>
              <p:nvSpPr>
                <p:cNvPr id="367" name="Google Shape;367;p16"/>
                <p:cNvSpPr txBox="1"/>
                <p:nvPr/>
              </p:nvSpPr>
              <p:spPr>
                <a:xfrm>
                  <a:off x="4932453" y="4448765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368" name="Google Shape;368;p16"/>
                <p:cNvCxnSpPr/>
                <p:nvPr/>
              </p:nvCxnSpPr>
              <p:spPr>
                <a:xfrm>
                  <a:off x="5285327" y="4068764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369" name="Google Shape;369;p16"/>
              <p:cNvGrpSpPr/>
              <p:nvPr/>
            </p:nvGrpSpPr>
            <p:grpSpPr>
              <a:xfrm>
                <a:off x="5393205" y="4042985"/>
                <a:ext cx="1136775" cy="1084691"/>
                <a:chOff x="5393205" y="4042985"/>
                <a:chExt cx="1136775" cy="1084691"/>
              </a:xfrm>
            </p:grpSpPr>
            <p:pic>
              <p:nvPicPr>
                <p:cNvPr id="349" name="Google Shape;349;p16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5449980" y="4047676"/>
                  <a:ext cx="108000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70" name="Google Shape;370;p16"/>
                <p:cNvSpPr txBox="1"/>
                <p:nvPr/>
              </p:nvSpPr>
              <p:spPr>
                <a:xfrm>
                  <a:off x="5393205" y="4042985"/>
                  <a:ext cx="805029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1" lang="ko-KR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Generated</a:t>
                  </a:r>
                  <a:endParaRPr b="1" i="1"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</p:grpSp>
          <p:grpSp>
            <p:nvGrpSpPr>
              <p:cNvPr id="371" name="Google Shape;371;p16"/>
              <p:cNvGrpSpPr/>
              <p:nvPr/>
            </p:nvGrpSpPr>
            <p:grpSpPr>
              <a:xfrm>
                <a:off x="5451409" y="3734354"/>
                <a:ext cx="1030504" cy="238527"/>
                <a:chOff x="5455875" y="1331024"/>
                <a:chExt cx="1030504" cy="238527"/>
              </a:xfrm>
            </p:grpSpPr>
            <p:sp>
              <p:nvSpPr>
                <p:cNvPr id="353" name="Google Shape;353;p16"/>
                <p:cNvSpPr txBox="1"/>
                <p:nvPr/>
              </p:nvSpPr>
              <p:spPr>
                <a:xfrm>
                  <a:off x="5764982" y="1331024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372" name="Google Shape;372;p16"/>
                <p:cNvCxnSpPr/>
                <p:nvPr/>
              </p:nvCxnSpPr>
              <p:spPr>
                <a:xfrm>
                  <a:off x="5455875" y="1553839"/>
                  <a:ext cx="1030504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373" name="Google Shape;373;p16"/>
            <p:cNvGrpSpPr/>
            <p:nvPr/>
          </p:nvGrpSpPr>
          <p:grpSpPr>
            <a:xfrm>
              <a:off x="8231742" y="2788378"/>
              <a:ext cx="2617168" cy="429474"/>
              <a:chOff x="8231742" y="2788378"/>
              <a:chExt cx="2617168" cy="429474"/>
            </a:xfrm>
          </p:grpSpPr>
          <p:sp>
            <p:nvSpPr>
              <p:cNvPr id="332" name="Google Shape;332;p16"/>
              <p:cNvSpPr txBox="1"/>
              <p:nvPr/>
            </p:nvSpPr>
            <p:spPr>
              <a:xfrm>
                <a:off x="8768321" y="2979325"/>
                <a:ext cx="1544012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Data distribution = [0, 1]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8231742" y="2788378"/>
                <a:ext cx="2617168" cy="169349"/>
              </a:xfrm>
              <a:prstGeom prst="rect">
                <a:avLst/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5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75" name="Google Shape;375;p16"/>
            <p:cNvGrpSpPr/>
            <p:nvPr/>
          </p:nvGrpSpPr>
          <p:grpSpPr>
            <a:xfrm>
              <a:off x="9195736" y="3513565"/>
              <a:ext cx="1015063" cy="566714"/>
              <a:chOff x="9195736" y="3513565"/>
              <a:chExt cx="1015063" cy="566714"/>
            </a:xfrm>
          </p:grpSpPr>
          <p:grpSp>
            <p:nvGrpSpPr>
              <p:cNvPr id="376" name="Google Shape;376;p16"/>
              <p:cNvGrpSpPr/>
              <p:nvPr/>
            </p:nvGrpSpPr>
            <p:grpSpPr>
              <a:xfrm>
                <a:off x="9195736" y="3513565"/>
                <a:ext cx="689181" cy="521391"/>
                <a:chOff x="8231742" y="1778228"/>
                <a:chExt cx="2617168" cy="521391"/>
              </a:xfrm>
            </p:grpSpPr>
            <p:sp>
              <p:nvSpPr>
                <p:cNvPr id="377" name="Google Shape;377;p16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333" name="Google Shape;333;p16"/>
                <p:cNvSpPr txBox="1"/>
                <p:nvPr/>
              </p:nvSpPr>
              <p:spPr>
                <a:xfrm>
                  <a:off x="9043595" y="1778228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4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378" name="Google Shape;378;p16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379" name="Google Shape;379;p16"/>
              <p:cNvGrpSpPr/>
              <p:nvPr/>
            </p:nvGrpSpPr>
            <p:grpSpPr>
              <a:xfrm>
                <a:off x="9949189" y="3834058"/>
                <a:ext cx="261610" cy="246221"/>
                <a:chOff x="10899930" y="2098636"/>
                <a:chExt cx="993465" cy="246221"/>
              </a:xfrm>
            </p:grpSpPr>
            <p:sp>
              <p:nvSpPr>
                <p:cNvPr id="380" name="Google Shape;380;p16"/>
                <p:cNvSpPr txBox="1"/>
                <p:nvPr/>
              </p:nvSpPr>
              <p:spPr>
                <a:xfrm>
                  <a:off x="10899930" y="2098636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381" name="Google Shape;381;p16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344" name="Google Shape;344;p16"/>
            <p:cNvSpPr/>
            <p:nvPr/>
          </p:nvSpPr>
          <p:spPr>
            <a:xfrm>
              <a:off x="9195736" y="6005473"/>
              <a:ext cx="689181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42" name="Google Shape;342;p16"/>
            <p:cNvSpPr txBox="1"/>
            <p:nvPr/>
          </p:nvSpPr>
          <p:spPr>
            <a:xfrm>
              <a:off x="9409522" y="5641119"/>
              <a:ext cx="26161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82" name="Google Shape;382;p16"/>
            <p:cNvCxnSpPr/>
            <p:nvPr/>
          </p:nvCxnSpPr>
          <p:spPr>
            <a:xfrm>
              <a:off x="9195736" y="5889187"/>
              <a:ext cx="68918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383" name="Google Shape;383;p16"/>
            <p:cNvGrpSpPr/>
            <p:nvPr/>
          </p:nvGrpSpPr>
          <p:grpSpPr>
            <a:xfrm>
              <a:off x="9949189" y="5967037"/>
              <a:ext cx="261610" cy="246221"/>
              <a:chOff x="10899930" y="2098636"/>
              <a:chExt cx="993465" cy="246221"/>
            </a:xfrm>
          </p:grpSpPr>
          <p:sp>
            <p:nvSpPr>
              <p:cNvPr id="384" name="Google Shape;384;p16"/>
              <p:cNvSpPr txBox="1"/>
              <p:nvPr/>
            </p:nvSpPr>
            <p:spPr>
              <a:xfrm>
                <a:off x="10899930" y="2098636"/>
                <a:ext cx="99346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385" name="Google Shape;385;p16"/>
              <p:cNvCxnSpPr/>
              <p:nvPr/>
            </p:nvCxnSpPr>
            <p:spPr>
              <a:xfrm>
                <a:off x="10942039" y="2125667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386" name="Google Shape;386;p16"/>
            <p:cNvSpPr/>
            <p:nvPr/>
          </p:nvSpPr>
          <p:spPr>
            <a:xfrm>
              <a:off x="4995959" y="6005473"/>
              <a:ext cx="2617168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48" name="Google Shape;348;p16"/>
            <p:cNvSpPr txBox="1"/>
            <p:nvPr/>
          </p:nvSpPr>
          <p:spPr>
            <a:xfrm>
              <a:off x="5544985" y="5652053"/>
              <a:ext cx="88998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784 (=28*28)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387" name="Google Shape;387;p16"/>
            <p:cNvCxnSpPr/>
            <p:nvPr/>
          </p:nvCxnSpPr>
          <p:spPr>
            <a:xfrm>
              <a:off x="4995959" y="5900121"/>
              <a:ext cx="26171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388" name="Google Shape;388;p16"/>
            <p:cNvGrpSpPr/>
            <p:nvPr/>
          </p:nvGrpSpPr>
          <p:grpSpPr>
            <a:xfrm>
              <a:off x="7641492" y="5967037"/>
              <a:ext cx="213520" cy="238527"/>
              <a:chOff x="7674150" y="5967037"/>
              <a:chExt cx="213520" cy="238527"/>
            </a:xfrm>
          </p:grpSpPr>
          <p:sp>
            <p:nvSpPr>
              <p:cNvPr id="345" name="Google Shape;345;p16"/>
              <p:cNvSpPr txBox="1"/>
              <p:nvPr/>
            </p:nvSpPr>
            <p:spPr>
              <a:xfrm>
                <a:off x="7674150" y="5967037"/>
                <a:ext cx="213520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389" name="Google Shape;389;p16"/>
              <p:cNvCxnSpPr/>
              <p:nvPr/>
            </p:nvCxnSpPr>
            <p:spPr>
              <a:xfrm>
                <a:off x="7706256" y="5999492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390" name="Google Shape;390;p16"/>
          <p:cNvSpPr/>
          <p:nvPr/>
        </p:nvSpPr>
        <p:spPr>
          <a:xfrm>
            <a:off x="8121763" y="2781015"/>
            <a:ext cx="3422131" cy="151688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400050" y="1417829"/>
            <a:ext cx="7652850" cy="5048285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712917" y="1899439"/>
            <a:ext cx="6999983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KR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Dimension Reduction 차원 축소 (784 차원 → 4 차원)</a:t>
            </a:r>
            <a:endParaRPr b="1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QuGAN은 성능 평가를 위해 손으로 쓴 숫자 이미지 데이터셋인 MNIST를 사용</a:t>
            </a:r>
            <a:r>
              <a:rPr lang="ko-KR" sz="14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sz="14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MNIST 이미지의 원래 크기는 28x28 픽셀이며, 이를 펼치면 (1D Flatten) 784개의 픽셀 값으로 이루어진 784차원의 벡터가 됨</a:t>
            </a:r>
            <a:endParaRPr sz="14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현재의 양자 컴퓨터나 시뮬레이터로 784개의 특징(차원)을 모두 다루는 것은 </a:t>
            </a:r>
            <a:r>
              <a:rPr b="1" lang="ko-KR" sz="14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어려움</a:t>
            </a:r>
            <a:endParaRPr b="1" sz="14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주성분 분석(Principal Component Analysis, PCA)</a:t>
            </a: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을 사용하여 데이터의 차원을 줄임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PCA는 데이터의 분산(정보량)을 가장 잘 설명하는 주요 축(주성분)들을 찾아내어 원본 데이터를 더 낮은 차원으로 압축하는 방법</a:t>
            </a:r>
            <a:endParaRPr sz="14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논문에서는 PCA를 통해 78 4차원의 이미지 데이터를 정보 손실을 감수하고 4차원의 데이터로 축소하며, 각 이미지는 이제 4개의 숫자 값으로 표현됨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7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Qubit Encoding 1-2</a:t>
            </a:r>
            <a:endParaRPr/>
          </a:p>
        </p:txBody>
      </p:sp>
      <p:sp>
        <p:nvSpPr>
          <p:cNvPr id="398" name="Google Shape;398;p17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399" name="Google Shape;399;p17"/>
          <p:cNvGrpSpPr/>
          <p:nvPr/>
        </p:nvGrpSpPr>
        <p:grpSpPr>
          <a:xfrm>
            <a:off x="625709" y="1417829"/>
            <a:ext cx="10955010" cy="4952647"/>
            <a:chOff x="453937" y="1331024"/>
            <a:chExt cx="10955010" cy="4952648"/>
          </a:xfrm>
        </p:grpSpPr>
        <p:grpSp>
          <p:nvGrpSpPr>
            <p:cNvPr id="400" name="Google Shape;400;p17"/>
            <p:cNvGrpSpPr/>
            <p:nvPr/>
          </p:nvGrpSpPr>
          <p:grpSpPr>
            <a:xfrm>
              <a:off x="453937" y="1953734"/>
              <a:ext cx="1820975" cy="1443901"/>
              <a:chOff x="453937" y="1953734"/>
              <a:chExt cx="1820975" cy="1443901"/>
            </a:xfrm>
          </p:grpSpPr>
          <p:pic>
            <p:nvPicPr>
              <p:cNvPr id="401" name="Google Shape;401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3937" y="1953734"/>
                <a:ext cx="1820975" cy="1089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" name="Google Shape;402;p17"/>
              <p:cNvSpPr txBox="1"/>
              <p:nvPr/>
            </p:nvSpPr>
            <p:spPr>
              <a:xfrm>
                <a:off x="846494" y="3151414"/>
                <a:ext cx="10358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00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Mnist Dataset</a:t>
                </a:r>
                <a:endParaRPr b="1" sz="10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403" name="Google Shape;403;p17"/>
            <p:cNvGrpSpPr/>
            <p:nvPr/>
          </p:nvGrpSpPr>
          <p:grpSpPr>
            <a:xfrm>
              <a:off x="2529049" y="1442726"/>
              <a:ext cx="811441" cy="1158008"/>
              <a:chOff x="2529049" y="1442726"/>
              <a:chExt cx="811441" cy="1158008"/>
            </a:xfrm>
          </p:grpSpPr>
          <p:pic>
            <p:nvPicPr>
              <p:cNvPr descr="Dataset Icons - Free SVG &amp; PNG Dataset Images - Noun Project" id="404" name="Google Shape;404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67539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5" name="Google Shape;405;p17"/>
              <p:cNvSpPr txBox="1"/>
              <p:nvPr/>
            </p:nvSpPr>
            <p:spPr>
              <a:xfrm>
                <a:off x="2529049" y="2216013"/>
                <a:ext cx="81144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Train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60,000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406" name="Google Shape;406;p17"/>
            <p:cNvGrpSpPr/>
            <p:nvPr/>
          </p:nvGrpSpPr>
          <p:grpSpPr>
            <a:xfrm>
              <a:off x="2567539" y="2845009"/>
              <a:ext cx="734459" cy="1143372"/>
              <a:chOff x="2567539" y="2886929"/>
              <a:chExt cx="734459" cy="1143372"/>
            </a:xfrm>
          </p:grpSpPr>
          <p:pic>
            <p:nvPicPr>
              <p:cNvPr descr="Dataset Icons - Free SVG &amp; PNG Dataset Images - Noun Project" id="407" name="Google Shape;407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567539" y="2886929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8" name="Google Shape;408;p17"/>
              <p:cNvSpPr txBox="1"/>
              <p:nvPr/>
            </p:nvSpPr>
            <p:spPr>
              <a:xfrm>
                <a:off x="2569125" y="3645580"/>
                <a:ext cx="731290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Test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cxnSp>
          <p:nvCxnSpPr>
            <p:cNvPr id="409" name="Google Shape;409;p17"/>
            <p:cNvCxnSpPr>
              <a:stCxn id="404" idx="3"/>
              <a:endCxn id="410" idx="1"/>
            </p:cNvCxnSpPr>
            <p:nvPr/>
          </p:nvCxnSpPr>
          <p:spPr>
            <a:xfrm>
              <a:off x="3301998" y="1809956"/>
              <a:ext cx="65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411" name="Google Shape;411;p17"/>
            <p:cNvGrpSpPr/>
            <p:nvPr/>
          </p:nvGrpSpPr>
          <p:grpSpPr>
            <a:xfrm>
              <a:off x="3850799" y="1442726"/>
              <a:ext cx="939681" cy="1158008"/>
              <a:chOff x="3850799" y="1442726"/>
              <a:chExt cx="939681" cy="1158008"/>
            </a:xfrm>
          </p:grpSpPr>
          <p:pic>
            <p:nvPicPr>
              <p:cNvPr descr="Dataset Icons - Free SVG &amp; PNG Dataset Images - Noun Project" id="410" name="Google Shape;410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53410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2" name="Google Shape;412;p17"/>
              <p:cNvSpPr txBox="1"/>
              <p:nvPr/>
            </p:nvSpPr>
            <p:spPr>
              <a:xfrm>
                <a:off x="3850799" y="2216013"/>
                <a:ext cx="93968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Sample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413" name="Google Shape;413;p17"/>
            <p:cNvSpPr txBox="1"/>
            <p:nvPr/>
          </p:nvSpPr>
          <p:spPr>
            <a:xfrm>
              <a:off x="3232187" y="1442726"/>
              <a:ext cx="724878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Sampling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14" name="Google Shape;414;p17"/>
            <p:cNvCxnSpPr>
              <a:stCxn id="415" idx="3"/>
              <a:endCxn id="416" idx="1"/>
            </p:cNvCxnSpPr>
            <p:nvPr/>
          </p:nvCxnSpPr>
          <p:spPr>
            <a:xfrm>
              <a:off x="6544912" y="2211453"/>
              <a:ext cx="1686900" cy="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17" name="Google Shape;417;p17"/>
            <p:cNvSpPr txBox="1"/>
            <p:nvPr/>
          </p:nvSpPr>
          <p:spPr>
            <a:xfrm>
              <a:off x="6911851" y="1938658"/>
              <a:ext cx="76174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1D Flatten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418" name="Google Shape;418;p17"/>
            <p:cNvGrpSpPr/>
            <p:nvPr/>
          </p:nvGrpSpPr>
          <p:grpSpPr>
            <a:xfrm>
              <a:off x="8231742" y="1778228"/>
              <a:ext cx="2971908" cy="566629"/>
              <a:chOff x="8231742" y="1778228"/>
              <a:chExt cx="2971908" cy="566629"/>
            </a:xfrm>
          </p:grpSpPr>
          <p:grpSp>
            <p:nvGrpSpPr>
              <p:cNvPr id="419" name="Google Shape;419;p17"/>
              <p:cNvGrpSpPr/>
              <p:nvPr/>
            </p:nvGrpSpPr>
            <p:grpSpPr>
              <a:xfrm>
                <a:off x="8231742" y="1778228"/>
                <a:ext cx="2617168" cy="521391"/>
                <a:chOff x="8231742" y="1778228"/>
                <a:chExt cx="2617168" cy="521391"/>
              </a:xfrm>
            </p:grpSpPr>
            <p:sp>
              <p:nvSpPr>
                <p:cNvPr id="416" name="Google Shape;416;p17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420" name="Google Shape;420;p17"/>
                <p:cNvSpPr txBox="1"/>
                <p:nvPr/>
              </p:nvSpPr>
              <p:spPr>
                <a:xfrm>
                  <a:off x="9095333" y="1778228"/>
                  <a:ext cx="889987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784 (=28*28)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421" name="Google Shape;421;p17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422" name="Google Shape;422;p17"/>
              <p:cNvGrpSpPr/>
              <p:nvPr/>
            </p:nvGrpSpPr>
            <p:grpSpPr>
              <a:xfrm>
                <a:off x="10942039" y="2098636"/>
                <a:ext cx="261611" cy="246221"/>
                <a:chOff x="10942039" y="2098636"/>
                <a:chExt cx="261611" cy="246221"/>
              </a:xfrm>
            </p:grpSpPr>
            <p:sp>
              <p:nvSpPr>
                <p:cNvPr id="423" name="Google Shape;423;p17"/>
                <p:cNvSpPr txBox="1"/>
                <p:nvPr/>
              </p:nvSpPr>
              <p:spPr>
                <a:xfrm>
                  <a:off x="10942040" y="2098636"/>
                  <a:ext cx="26161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424" name="Google Shape;424;p17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cxnSp>
          <p:nvCxnSpPr>
            <p:cNvPr id="425" name="Google Shape;425;p17"/>
            <p:cNvCxnSpPr/>
            <p:nvPr/>
          </p:nvCxnSpPr>
          <p:spPr>
            <a:xfrm>
              <a:off x="9540326" y="2299619"/>
              <a:ext cx="0" cy="4887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26" name="Google Shape;426;p17"/>
            <p:cNvSpPr txBox="1"/>
            <p:nvPr/>
          </p:nvSpPr>
          <p:spPr>
            <a:xfrm>
              <a:off x="9611335" y="2420888"/>
              <a:ext cx="1330814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/255 *Normalization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27" name="Google Shape;427;p17"/>
            <p:cNvCxnSpPr>
              <a:stCxn id="428" idx="2"/>
              <a:endCxn id="429" idx="0"/>
            </p:cNvCxnSpPr>
            <p:nvPr/>
          </p:nvCxnSpPr>
          <p:spPr>
            <a:xfrm>
              <a:off x="9540327" y="3217852"/>
              <a:ext cx="0" cy="29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30" name="Google Shape;430;p17"/>
            <p:cNvSpPr txBox="1"/>
            <p:nvPr/>
          </p:nvSpPr>
          <p:spPr>
            <a:xfrm>
              <a:off x="9701428" y="3254193"/>
              <a:ext cx="1707519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 (Downscale : 784 → 4)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Min-Max Scaling [0,1]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431" name="Google Shape;431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20699" y="3598229"/>
              <a:ext cx="706964" cy="533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28187" y="4101255"/>
              <a:ext cx="493355" cy="522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3" name="Google Shape;433;p17"/>
            <p:cNvCxnSpPr/>
            <p:nvPr/>
          </p:nvCxnSpPr>
          <p:spPr>
            <a:xfrm>
              <a:off x="9539281" y="4034956"/>
              <a:ext cx="1045" cy="6525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34" name="Google Shape;434;p17"/>
            <p:cNvSpPr txBox="1"/>
            <p:nvPr/>
          </p:nvSpPr>
          <p:spPr>
            <a:xfrm>
              <a:off x="9577672" y="4238129"/>
              <a:ext cx="1101585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Qubit encoding</a:t>
              </a:r>
              <a:endParaRPr b="1"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Quantum-Computing Icons - Free SVG &amp; PNG Quantum-Computing Images - Noun  Project" id="435" name="Google Shape;435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06481" y="4687523"/>
              <a:ext cx="667690" cy="66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17"/>
            <p:cNvSpPr txBox="1"/>
            <p:nvPr/>
          </p:nvSpPr>
          <p:spPr>
            <a:xfrm>
              <a:off x="9856611" y="4895028"/>
              <a:ext cx="138531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Quantum Computing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37" name="Google Shape;437;p17"/>
            <p:cNvCxnSpPr>
              <a:endCxn id="438" idx="0"/>
            </p:cNvCxnSpPr>
            <p:nvPr/>
          </p:nvCxnSpPr>
          <p:spPr>
            <a:xfrm>
              <a:off x="9540327" y="5442819"/>
              <a:ext cx="0" cy="19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39" name="Google Shape;439;p17"/>
            <p:cNvCxnSpPr>
              <a:stCxn id="440" idx="1"/>
              <a:endCxn id="441" idx="3"/>
            </p:cNvCxnSpPr>
            <p:nvPr/>
          </p:nvCxnSpPr>
          <p:spPr>
            <a:xfrm rot="10800000">
              <a:off x="7855036" y="6086248"/>
              <a:ext cx="13407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42" name="Google Shape;442;p17"/>
            <p:cNvSpPr txBox="1"/>
            <p:nvPr/>
          </p:nvSpPr>
          <p:spPr>
            <a:xfrm>
              <a:off x="7885209" y="5898951"/>
              <a:ext cx="1314651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Inverse PCA 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(Upscale : 4 → 784)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43" name="Google Shape;443;p17"/>
            <p:cNvCxnSpPr>
              <a:stCxn id="444" idx="0"/>
              <a:endCxn id="445" idx="2"/>
            </p:cNvCxnSpPr>
            <p:nvPr/>
          </p:nvCxnSpPr>
          <p:spPr>
            <a:xfrm rot="10800000">
              <a:off x="5989979" y="5127653"/>
              <a:ext cx="0" cy="52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46" name="Google Shape;446;p17"/>
            <p:cNvSpPr txBox="1"/>
            <p:nvPr/>
          </p:nvSpPr>
          <p:spPr>
            <a:xfrm>
              <a:off x="6050750" y="5212610"/>
              <a:ext cx="67037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Reshape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47" name="Google Shape;447;p17"/>
            <p:cNvCxnSpPr>
              <a:stCxn id="448" idx="2"/>
              <a:endCxn id="449" idx="0"/>
            </p:cNvCxnSpPr>
            <p:nvPr/>
          </p:nvCxnSpPr>
          <p:spPr>
            <a:xfrm flipH="1">
              <a:off x="5966628" y="2774926"/>
              <a:ext cx="7500" cy="95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50" name="Google Shape;450;p17"/>
            <p:cNvSpPr txBox="1"/>
            <p:nvPr/>
          </p:nvSpPr>
          <p:spPr>
            <a:xfrm>
              <a:off x="5931002" y="3134192"/>
              <a:ext cx="705642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Compare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451" name="Google Shape;451;p17"/>
            <p:cNvGrpSpPr/>
            <p:nvPr/>
          </p:nvGrpSpPr>
          <p:grpSpPr>
            <a:xfrm>
              <a:off x="4932453" y="1331024"/>
              <a:ext cx="1612459" cy="1443902"/>
              <a:chOff x="4932453" y="1331024"/>
              <a:chExt cx="1612459" cy="1443902"/>
            </a:xfrm>
          </p:grpSpPr>
          <p:grpSp>
            <p:nvGrpSpPr>
              <p:cNvPr id="452" name="Google Shape;452;p17"/>
              <p:cNvGrpSpPr/>
              <p:nvPr/>
            </p:nvGrpSpPr>
            <p:grpSpPr>
              <a:xfrm>
                <a:off x="4932453" y="1686459"/>
                <a:ext cx="412292" cy="1006222"/>
                <a:chOff x="4932453" y="1671455"/>
                <a:chExt cx="412292" cy="1006222"/>
              </a:xfrm>
            </p:grpSpPr>
            <p:sp>
              <p:nvSpPr>
                <p:cNvPr id="453" name="Google Shape;453;p17"/>
                <p:cNvSpPr txBox="1"/>
                <p:nvPr/>
              </p:nvSpPr>
              <p:spPr>
                <a:xfrm>
                  <a:off x="4932453" y="2051456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454" name="Google Shape;454;p17"/>
                <p:cNvCxnSpPr/>
                <p:nvPr/>
              </p:nvCxnSpPr>
              <p:spPr>
                <a:xfrm>
                  <a:off x="5285327" y="1671455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455" name="Google Shape;455;p17"/>
              <p:cNvGrpSpPr/>
              <p:nvPr/>
            </p:nvGrpSpPr>
            <p:grpSpPr>
              <a:xfrm>
                <a:off x="5366083" y="1331024"/>
                <a:ext cx="1178829" cy="1443902"/>
                <a:chOff x="5366083" y="1331024"/>
                <a:chExt cx="1178829" cy="1443902"/>
              </a:xfrm>
            </p:grpSpPr>
            <p:grpSp>
              <p:nvGrpSpPr>
                <p:cNvPr id="456" name="Google Shape;456;p17"/>
                <p:cNvGrpSpPr/>
                <p:nvPr/>
              </p:nvGrpSpPr>
              <p:grpSpPr>
                <a:xfrm>
                  <a:off x="5458875" y="1331024"/>
                  <a:ext cx="1030504" cy="1443902"/>
                  <a:chOff x="5455875" y="1331024"/>
                  <a:chExt cx="1030504" cy="1443902"/>
                </a:xfrm>
              </p:grpSpPr>
              <p:sp>
                <p:nvSpPr>
                  <p:cNvPr id="457" name="Google Shape;457;p17"/>
                  <p:cNvSpPr txBox="1"/>
                  <p:nvPr/>
                </p:nvSpPr>
                <p:spPr>
                  <a:xfrm>
                    <a:off x="5764982" y="1331024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cxnSp>
                <p:nvCxnSpPr>
                  <p:cNvPr id="458" name="Google Shape;458;p17"/>
                  <p:cNvCxnSpPr/>
                  <p:nvPr/>
                </p:nvCxnSpPr>
                <p:spPr>
                  <a:xfrm>
                    <a:off x="5455875" y="1553839"/>
                    <a:ext cx="1030504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triangle"/>
                    <a:tailEnd len="med" w="med" type="triangle"/>
                  </a:ln>
                </p:spPr>
              </p:cxnSp>
              <p:sp>
                <p:nvSpPr>
                  <p:cNvPr id="448" name="Google Shape;448;p17"/>
                  <p:cNvSpPr txBox="1"/>
                  <p:nvPr/>
                </p:nvSpPr>
                <p:spPr>
                  <a:xfrm>
                    <a:off x="5764982" y="2536399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grpSp>
              <p:nvGrpSpPr>
                <p:cNvPr id="459" name="Google Shape;459;p17"/>
                <p:cNvGrpSpPr/>
                <p:nvPr/>
              </p:nvGrpSpPr>
              <p:grpSpPr>
                <a:xfrm>
                  <a:off x="5366083" y="1627688"/>
                  <a:ext cx="1178829" cy="1123765"/>
                  <a:chOff x="5366083" y="1627688"/>
                  <a:chExt cx="1178829" cy="1123765"/>
                </a:xfrm>
              </p:grpSpPr>
              <p:pic>
                <p:nvPicPr>
                  <p:cNvPr id="415" name="Google Shape;415;p1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5464912" y="1671453"/>
                    <a:ext cx="1080000" cy="10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60" name="Google Shape;460;p17"/>
                  <p:cNvSpPr txBox="1"/>
                  <p:nvPr/>
                </p:nvSpPr>
                <p:spPr>
                  <a:xfrm>
                    <a:off x="5366083" y="1627688"/>
                    <a:ext cx="667170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1" lang="ko-KR" sz="9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Original</a:t>
                    </a:r>
                    <a:endParaRPr b="1" i="1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</p:grpSp>
        </p:grpSp>
        <p:grpSp>
          <p:nvGrpSpPr>
            <p:cNvPr id="461" name="Google Shape;461;p17"/>
            <p:cNvGrpSpPr/>
            <p:nvPr/>
          </p:nvGrpSpPr>
          <p:grpSpPr>
            <a:xfrm>
              <a:off x="4932453" y="3734354"/>
              <a:ext cx="1597527" cy="1393322"/>
              <a:chOff x="4932453" y="3734354"/>
              <a:chExt cx="1597527" cy="1393322"/>
            </a:xfrm>
          </p:grpSpPr>
          <p:grpSp>
            <p:nvGrpSpPr>
              <p:cNvPr id="462" name="Google Shape;462;p17"/>
              <p:cNvGrpSpPr/>
              <p:nvPr/>
            </p:nvGrpSpPr>
            <p:grpSpPr>
              <a:xfrm>
                <a:off x="4932453" y="4082219"/>
                <a:ext cx="412292" cy="1006222"/>
                <a:chOff x="4932453" y="4068764"/>
                <a:chExt cx="412292" cy="1006222"/>
              </a:xfrm>
            </p:grpSpPr>
            <p:sp>
              <p:nvSpPr>
                <p:cNvPr id="463" name="Google Shape;463;p17"/>
                <p:cNvSpPr txBox="1"/>
                <p:nvPr/>
              </p:nvSpPr>
              <p:spPr>
                <a:xfrm>
                  <a:off x="4932453" y="4448765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464" name="Google Shape;464;p17"/>
                <p:cNvCxnSpPr/>
                <p:nvPr/>
              </p:nvCxnSpPr>
              <p:spPr>
                <a:xfrm>
                  <a:off x="5285327" y="4068764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465" name="Google Shape;465;p17"/>
              <p:cNvGrpSpPr/>
              <p:nvPr/>
            </p:nvGrpSpPr>
            <p:grpSpPr>
              <a:xfrm>
                <a:off x="5387595" y="4042985"/>
                <a:ext cx="1142385" cy="1084691"/>
                <a:chOff x="5387595" y="4042985"/>
                <a:chExt cx="1142385" cy="1084691"/>
              </a:xfrm>
            </p:grpSpPr>
            <p:pic>
              <p:nvPicPr>
                <p:cNvPr id="445" name="Google Shape;445;p17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5449980" y="4047676"/>
                  <a:ext cx="108000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66" name="Google Shape;466;p17"/>
                <p:cNvSpPr txBox="1"/>
                <p:nvPr/>
              </p:nvSpPr>
              <p:spPr>
                <a:xfrm>
                  <a:off x="5387595" y="4042985"/>
                  <a:ext cx="816249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1" lang="ko-KR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Generated</a:t>
                  </a:r>
                  <a:endParaRPr b="1" i="1"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</p:grpSp>
          <p:grpSp>
            <p:nvGrpSpPr>
              <p:cNvPr id="467" name="Google Shape;467;p17"/>
              <p:cNvGrpSpPr/>
              <p:nvPr/>
            </p:nvGrpSpPr>
            <p:grpSpPr>
              <a:xfrm>
                <a:off x="5451409" y="3734354"/>
                <a:ext cx="1030504" cy="238527"/>
                <a:chOff x="5455875" y="1331024"/>
                <a:chExt cx="1030504" cy="238527"/>
              </a:xfrm>
            </p:grpSpPr>
            <p:sp>
              <p:nvSpPr>
                <p:cNvPr id="449" name="Google Shape;449;p17"/>
                <p:cNvSpPr txBox="1"/>
                <p:nvPr/>
              </p:nvSpPr>
              <p:spPr>
                <a:xfrm>
                  <a:off x="5764982" y="1331024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468" name="Google Shape;468;p17"/>
                <p:cNvCxnSpPr/>
                <p:nvPr/>
              </p:nvCxnSpPr>
              <p:spPr>
                <a:xfrm>
                  <a:off x="5455875" y="1553839"/>
                  <a:ext cx="1030504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469" name="Google Shape;469;p17"/>
            <p:cNvGrpSpPr/>
            <p:nvPr/>
          </p:nvGrpSpPr>
          <p:grpSpPr>
            <a:xfrm>
              <a:off x="8231742" y="2788378"/>
              <a:ext cx="2617168" cy="429474"/>
              <a:chOff x="8231742" y="2788378"/>
              <a:chExt cx="2617168" cy="429474"/>
            </a:xfrm>
          </p:grpSpPr>
          <p:sp>
            <p:nvSpPr>
              <p:cNvPr id="428" name="Google Shape;428;p17"/>
              <p:cNvSpPr txBox="1"/>
              <p:nvPr/>
            </p:nvSpPr>
            <p:spPr>
              <a:xfrm>
                <a:off x="8768321" y="2979325"/>
                <a:ext cx="1544012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Data distribution = [0, 1]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470" name="Google Shape;470;p17"/>
              <p:cNvSpPr/>
              <p:nvPr/>
            </p:nvSpPr>
            <p:spPr>
              <a:xfrm>
                <a:off x="8231742" y="2788378"/>
                <a:ext cx="2617168" cy="169349"/>
              </a:xfrm>
              <a:prstGeom prst="rect">
                <a:avLst/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5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471" name="Google Shape;471;p17"/>
            <p:cNvGrpSpPr/>
            <p:nvPr/>
          </p:nvGrpSpPr>
          <p:grpSpPr>
            <a:xfrm>
              <a:off x="9195736" y="3513565"/>
              <a:ext cx="1015063" cy="566714"/>
              <a:chOff x="9195736" y="3513565"/>
              <a:chExt cx="1015063" cy="566714"/>
            </a:xfrm>
          </p:grpSpPr>
          <p:grpSp>
            <p:nvGrpSpPr>
              <p:cNvPr id="472" name="Google Shape;472;p17"/>
              <p:cNvGrpSpPr/>
              <p:nvPr/>
            </p:nvGrpSpPr>
            <p:grpSpPr>
              <a:xfrm>
                <a:off x="9195736" y="3513565"/>
                <a:ext cx="689181" cy="521391"/>
                <a:chOff x="8231742" y="1778228"/>
                <a:chExt cx="2617168" cy="521391"/>
              </a:xfrm>
            </p:grpSpPr>
            <p:sp>
              <p:nvSpPr>
                <p:cNvPr id="473" name="Google Shape;473;p17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429" name="Google Shape;429;p17"/>
                <p:cNvSpPr txBox="1"/>
                <p:nvPr/>
              </p:nvSpPr>
              <p:spPr>
                <a:xfrm>
                  <a:off x="9043595" y="1778228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4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474" name="Google Shape;474;p17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475" name="Google Shape;475;p17"/>
              <p:cNvGrpSpPr/>
              <p:nvPr/>
            </p:nvGrpSpPr>
            <p:grpSpPr>
              <a:xfrm>
                <a:off x="9949189" y="3834058"/>
                <a:ext cx="261610" cy="246221"/>
                <a:chOff x="10899930" y="2098636"/>
                <a:chExt cx="993465" cy="246221"/>
              </a:xfrm>
            </p:grpSpPr>
            <p:sp>
              <p:nvSpPr>
                <p:cNvPr id="476" name="Google Shape;476;p17"/>
                <p:cNvSpPr txBox="1"/>
                <p:nvPr/>
              </p:nvSpPr>
              <p:spPr>
                <a:xfrm>
                  <a:off x="10899930" y="2098636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477" name="Google Shape;477;p17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440" name="Google Shape;440;p17"/>
            <p:cNvSpPr/>
            <p:nvPr/>
          </p:nvSpPr>
          <p:spPr>
            <a:xfrm>
              <a:off x="9195736" y="6005473"/>
              <a:ext cx="689181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38" name="Google Shape;438;p17"/>
            <p:cNvSpPr txBox="1"/>
            <p:nvPr/>
          </p:nvSpPr>
          <p:spPr>
            <a:xfrm>
              <a:off x="9409522" y="5641119"/>
              <a:ext cx="26161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78" name="Google Shape;478;p17"/>
            <p:cNvCxnSpPr/>
            <p:nvPr/>
          </p:nvCxnSpPr>
          <p:spPr>
            <a:xfrm>
              <a:off x="9195736" y="5889187"/>
              <a:ext cx="68918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479" name="Google Shape;479;p17"/>
            <p:cNvGrpSpPr/>
            <p:nvPr/>
          </p:nvGrpSpPr>
          <p:grpSpPr>
            <a:xfrm>
              <a:off x="9949189" y="5967037"/>
              <a:ext cx="261610" cy="246221"/>
              <a:chOff x="10899930" y="2098636"/>
              <a:chExt cx="993465" cy="246221"/>
            </a:xfrm>
          </p:grpSpPr>
          <p:sp>
            <p:nvSpPr>
              <p:cNvPr id="480" name="Google Shape;480;p17"/>
              <p:cNvSpPr txBox="1"/>
              <p:nvPr/>
            </p:nvSpPr>
            <p:spPr>
              <a:xfrm>
                <a:off x="10899930" y="2098636"/>
                <a:ext cx="99346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481" name="Google Shape;481;p17"/>
              <p:cNvCxnSpPr/>
              <p:nvPr/>
            </p:nvCxnSpPr>
            <p:spPr>
              <a:xfrm>
                <a:off x="10942039" y="2125667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482" name="Google Shape;482;p17"/>
            <p:cNvSpPr/>
            <p:nvPr/>
          </p:nvSpPr>
          <p:spPr>
            <a:xfrm>
              <a:off x="4995959" y="6005473"/>
              <a:ext cx="2617168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44" name="Google Shape;444;p17"/>
            <p:cNvSpPr txBox="1"/>
            <p:nvPr/>
          </p:nvSpPr>
          <p:spPr>
            <a:xfrm>
              <a:off x="5544985" y="5652053"/>
              <a:ext cx="88998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784 (=28*28)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483" name="Google Shape;483;p17"/>
            <p:cNvCxnSpPr/>
            <p:nvPr/>
          </p:nvCxnSpPr>
          <p:spPr>
            <a:xfrm>
              <a:off x="4995959" y="5900121"/>
              <a:ext cx="26171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484" name="Google Shape;484;p17"/>
            <p:cNvGrpSpPr/>
            <p:nvPr/>
          </p:nvGrpSpPr>
          <p:grpSpPr>
            <a:xfrm>
              <a:off x="7641492" y="5967037"/>
              <a:ext cx="213520" cy="238527"/>
              <a:chOff x="7674150" y="5967037"/>
              <a:chExt cx="213520" cy="238527"/>
            </a:xfrm>
          </p:grpSpPr>
          <p:sp>
            <p:nvSpPr>
              <p:cNvPr id="441" name="Google Shape;441;p17"/>
              <p:cNvSpPr txBox="1"/>
              <p:nvPr/>
            </p:nvSpPr>
            <p:spPr>
              <a:xfrm>
                <a:off x="7674150" y="5967037"/>
                <a:ext cx="213520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485" name="Google Shape;485;p17"/>
              <p:cNvCxnSpPr/>
              <p:nvPr/>
            </p:nvCxnSpPr>
            <p:spPr>
              <a:xfrm>
                <a:off x="7706256" y="5999492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486" name="Google Shape;486;p17"/>
          <p:cNvSpPr/>
          <p:nvPr/>
        </p:nvSpPr>
        <p:spPr>
          <a:xfrm>
            <a:off x="8770390" y="3366128"/>
            <a:ext cx="2912595" cy="164677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400050" y="1417829"/>
            <a:ext cx="7652850" cy="5048285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712917" y="1899439"/>
            <a:ext cx="6999983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KR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Qubit Encoding (Qubit Encoding)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정규화된 </a:t>
            </a: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4차원 데이터를 실제 큐비트에 입력(인코딩)하는 과정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4차원 데이터이므로 4개의 큐비트를 사용하며, 각 큐비트는 데이터의 각 차원 값을 담당함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값 x (0과 1 사이의 값)를 큐비트의 상태로 인코딩하기 위해, 특정 각도 θ만큼 큐비트를 회전시키는 양자 게이트(RY​(θ) 게이트)를 사용</a:t>
            </a:r>
            <a:r>
              <a:rPr lang="ko-KR" sz="14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sz="14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회전 각도 θ는 다음 공식을 통해 계산됩니다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θ=2⋅arcsin(x​)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계산된 각도 θ로 RY​ 게이트를 큐비트에 적용하면, 해당 큐비트를 측정했을 때 '1'이 나올 확률의 기대값이 정확히 원래의 데이터 값 x와 같아짐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MNIST 이미지 한 장은 다음과 같은 과정을 거쳐 양자 회로에 입력됩니다</a:t>
            </a:r>
            <a:endParaRPr b="1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AutoNum type="arabicPeriod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28x28 픽셀의 784차원 데이터를 PCA를 통해 4차원의 숫자 벡터로 압축함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AutoNum type="arabicPeriod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4개의 숫자 값을 각각 0과 1 사이로 정규화함 (Min-Max scaling)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AutoNum type="arabicPeriod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정규화된 4개의 값 (x1​,x2​,x3​,x4​)을 각각 위의 공식을 사용해 4개의 회전 각도 (θ1​,θ2​,θ3​,θ4​)로 변환함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AutoNum type="arabicPeriod"/>
            </a:pPr>
            <a:r>
              <a:rPr b="0" i="0" lang="ko-KR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4개의 큐비트에 각각 해당하는 회전 각도만큼 RY​ 게이트를 적용하여 인코딩함</a:t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p17"/>
          <p:cNvSpPr txBox="1"/>
          <p:nvPr/>
        </p:nvSpPr>
        <p:spPr>
          <a:xfrm>
            <a:off x="10138743" y="4465277"/>
            <a:ext cx="15193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ko-KR" sz="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Discriminator : 4 qubit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ko-KR" sz="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Generator : 4 qubit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ko-KR" sz="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Ancilla : 1 qubit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8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Qubit Encoding 2-2</a:t>
            </a:r>
            <a:endParaRPr/>
          </a:p>
        </p:txBody>
      </p:sp>
      <p:sp>
        <p:nvSpPr>
          <p:cNvPr id="495" name="Google Shape;495;p18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496" name="Google Shape;496;p18"/>
          <p:cNvGrpSpPr/>
          <p:nvPr/>
        </p:nvGrpSpPr>
        <p:grpSpPr>
          <a:xfrm>
            <a:off x="1092709" y="2025936"/>
            <a:ext cx="10006583" cy="4164816"/>
            <a:chOff x="1092709" y="1845356"/>
            <a:chExt cx="10006583" cy="4164816"/>
          </a:xfrm>
        </p:grpSpPr>
        <p:pic>
          <p:nvPicPr>
            <p:cNvPr id="497" name="Google Shape;49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709" y="1845356"/>
              <a:ext cx="10006583" cy="416481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8" name="Google Shape;498;p18"/>
            <p:cNvCxnSpPr/>
            <p:nvPr/>
          </p:nvCxnSpPr>
          <p:spPr>
            <a:xfrm>
              <a:off x="1217184" y="2485372"/>
              <a:ext cx="9491623" cy="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" name="Google Shape;499;p18"/>
            <p:cNvCxnSpPr/>
            <p:nvPr/>
          </p:nvCxnSpPr>
          <p:spPr>
            <a:xfrm>
              <a:off x="1217184" y="3998422"/>
              <a:ext cx="9491623" cy="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0" name="Google Shape;500;p18"/>
          <p:cNvSpPr txBox="1"/>
          <p:nvPr/>
        </p:nvSpPr>
        <p:spPr>
          <a:xfrm>
            <a:off x="567190" y="1531165"/>
            <a:ext cx="115613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Ancilla Qubit (보조 큐비트) 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양자 상태(예: 생성된 상태와 기준 상태) 간의 유사도를 측정함 스왑 테스트 (Swap Test)의 보조 큐비트 측정 확률이 판별자의 '결과값'이 됨</a:t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1224269" y="2176971"/>
            <a:ext cx="9399255" cy="407039"/>
          </a:xfrm>
          <a:prstGeom prst="rect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QuGAN Generation 1-2</a:t>
            </a:r>
            <a:endParaRPr/>
          </a:p>
        </p:txBody>
      </p:sp>
      <p:sp>
        <p:nvSpPr>
          <p:cNvPr id="507" name="Google Shape;507;p19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508" name="Google Shape;508;p19"/>
          <p:cNvGrpSpPr/>
          <p:nvPr/>
        </p:nvGrpSpPr>
        <p:grpSpPr>
          <a:xfrm>
            <a:off x="625709" y="1417829"/>
            <a:ext cx="10992681" cy="4952647"/>
            <a:chOff x="453937" y="1331024"/>
            <a:chExt cx="10992681" cy="4952648"/>
          </a:xfrm>
        </p:grpSpPr>
        <p:grpSp>
          <p:nvGrpSpPr>
            <p:cNvPr id="509" name="Google Shape;509;p19"/>
            <p:cNvGrpSpPr/>
            <p:nvPr/>
          </p:nvGrpSpPr>
          <p:grpSpPr>
            <a:xfrm>
              <a:off x="453937" y="1953734"/>
              <a:ext cx="1820975" cy="1443901"/>
              <a:chOff x="453937" y="1953734"/>
              <a:chExt cx="1820975" cy="1443901"/>
            </a:xfrm>
          </p:grpSpPr>
          <p:pic>
            <p:nvPicPr>
              <p:cNvPr id="510" name="Google Shape;510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3937" y="1953734"/>
                <a:ext cx="1820975" cy="1089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1" name="Google Shape;511;p19"/>
              <p:cNvSpPr txBox="1"/>
              <p:nvPr/>
            </p:nvSpPr>
            <p:spPr>
              <a:xfrm>
                <a:off x="846494" y="3151414"/>
                <a:ext cx="10358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00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Mnist Dataset</a:t>
                </a:r>
                <a:endParaRPr b="1" sz="10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512" name="Google Shape;512;p19"/>
            <p:cNvGrpSpPr/>
            <p:nvPr/>
          </p:nvGrpSpPr>
          <p:grpSpPr>
            <a:xfrm>
              <a:off x="2529049" y="1442726"/>
              <a:ext cx="811441" cy="1158008"/>
              <a:chOff x="2529049" y="1442726"/>
              <a:chExt cx="811441" cy="1158008"/>
            </a:xfrm>
          </p:grpSpPr>
          <p:pic>
            <p:nvPicPr>
              <p:cNvPr descr="Dataset Icons - Free SVG &amp; PNG Dataset Images - Noun Project" id="513" name="Google Shape;513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67539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19"/>
              <p:cNvSpPr txBox="1"/>
              <p:nvPr/>
            </p:nvSpPr>
            <p:spPr>
              <a:xfrm>
                <a:off x="2529049" y="2216013"/>
                <a:ext cx="81144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Train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60,000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515" name="Google Shape;515;p19"/>
            <p:cNvGrpSpPr/>
            <p:nvPr/>
          </p:nvGrpSpPr>
          <p:grpSpPr>
            <a:xfrm>
              <a:off x="2567539" y="2845009"/>
              <a:ext cx="734459" cy="1143372"/>
              <a:chOff x="2567539" y="2886929"/>
              <a:chExt cx="734459" cy="1143372"/>
            </a:xfrm>
          </p:grpSpPr>
          <p:pic>
            <p:nvPicPr>
              <p:cNvPr descr="Dataset Icons - Free SVG &amp; PNG Dataset Images - Noun Project" id="516" name="Google Shape;516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567539" y="2886929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7" name="Google Shape;517;p19"/>
              <p:cNvSpPr txBox="1"/>
              <p:nvPr/>
            </p:nvSpPr>
            <p:spPr>
              <a:xfrm>
                <a:off x="2569125" y="3645580"/>
                <a:ext cx="731290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Test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cxnSp>
          <p:nvCxnSpPr>
            <p:cNvPr id="518" name="Google Shape;518;p19"/>
            <p:cNvCxnSpPr>
              <a:stCxn id="513" idx="3"/>
              <a:endCxn id="519" idx="1"/>
            </p:cNvCxnSpPr>
            <p:nvPr/>
          </p:nvCxnSpPr>
          <p:spPr>
            <a:xfrm>
              <a:off x="3301998" y="1809956"/>
              <a:ext cx="65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520" name="Google Shape;520;p19"/>
            <p:cNvGrpSpPr/>
            <p:nvPr/>
          </p:nvGrpSpPr>
          <p:grpSpPr>
            <a:xfrm>
              <a:off x="3850799" y="1442726"/>
              <a:ext cx="939681" cy="1158008"/>
              <a:chOff x="3850799" y="1442726"/>
              <a:chExt cx="939681" cy="1158008"/>
            </a:xfrm>
          </p:grpSpPr>
          <p:pic>
            <p:nvPicPr>
              <p:cNvPr descr="Dataset Icons - Free SVG &amp; PNG Dataset Images - Noun Project" id="519" name="Google Shape;519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53410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1" name="Google Shape;521;p19"/>
              <p:cNvSpPr txBox="1"/>
              <p:nvPr/>
            </p:nvSpPr>
            <p:spPr>
              <a:xfrm>
                <a:off x="3850799" y="2216013"/>
                <a:ext cx="93968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Sample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522" name="Google Shape;522;p19"/>
            <p:cNvSpPr txBox="1"/>
            <p:nvPr/>
          </p:nvSpPr>
          <p:spPr>
            <a:xfrm>
              <a:off x="3232187" y="1442726"/>
              <a:ext cx="724878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Sampling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523" name="Google Shape;523;p19"/>
            <p:cNvCxnSpPr>
              <a:stCxn id="524" idx="3"/>
              <a:endCxn id="525" idx="1"/>
            </p:cNvCxnSpPr>
            <p:nvPr/>
          </p:nvCxnSpPr>
          <p:spPr>
            <a:xfrm>
              <a:off x="6544912" y="2211453"/>
              <a:ext cx="1686900" cy="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26" name="Google Shape;526;p19"/>
            <p:cNvSpPr txBox="1"/>
            <p:nvPr/>
          </p:nvSpPr>
          <p:spPr>
            <a:xfrm>
              <a:off x="6911851" y="1938658"/>
              <a:ext cx="76174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1D Flatten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527" name="Google Shape;527;p19"/>
            <p:cNvGrpSpPr/>
            <p:nvPr/>
          </p:nvGrpSpPr>
          <p:grpSpPr>
            <a:xfrm>
              <a:off x="8231742" y="1778228"/>
              <a:ext cx="2971908" cy="566629"/>
              <a:chOff x="8231742" y="1778228"/>
              <a:chExt cx="2971908" cy="566629"/>
            </a:xfrm>
          </p:grpSpPr>
          <p:grpSp>
            <p:nvGrpSpPr>
              <p:cNvPr id="528" name="Google Shape;528;p19"/>
              <p:cNvGrpSpPr/>
              <p:nvPr/>
            </p:nvGrpSpPr>
            <p:grpSpPr>
              <a:xfrm>
                <a:off x="8231742" y="1778228"/>
                <a:ext cx="2617168" cy="521391"/>
                <a:chOff x="8231742" y="1778228"/>
                <a:chExt cx="2617168" cy="521391"/>
              </a:xfrm>
            </p:grpSpPr>
            <p:sp>
              <p:nvSpPr>
                <p:cNvPr id="525" name="Google Shape;525;p19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29" name="Google Shape;529;p19"/>
                <p:cNvSpPr txBox="1"/>
                <p:nvPr/>
              </p:nvSpPr>
              <p:spPr>
                <a:xfrm>
                  <a:off x="9095333" y="1778228"/>
                  <a:ext cx="889987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784 (=28*28)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30" name="Google Shape;530;p19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531" name="Google Shape;531;p19"/>
              <p:cNvGrpSpPr/>
              <p:nvPr/>
            </p:nvGrpSpPr>
            <p:grpSpPr>
              <a:xfrm>
                <a:off x="10942039" y="2098636"/>
                <a:ext cx="261611" cy="246221"/>
                <a:chOff x="10942039" y="2098636"/>
                <a:chExt cx="261611" cy="246221"/>
              </a:xfrm>
            </p:grpSpPr>
            <p:sp>
              <p:nvSpPr>
                <p:cNvPr id="532" name="Google Shape;532;p19"/>
                <p:cNvSpPr txBox="1"/>
                <p:nvPr/>
              </p:nvSpPr>
              <p:spPr>
                <a:xfrm>
                  <a:off x="10942040" y="2098636"/>
                  <a:ext cx="26161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33" name="Google Shape;533;p19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cxnSp>
          <p:nvCxnSpPr>
            <p:cNvPr id="534" name="Google Shape;534;p19"/>
            <p:cNvCxnSpPr/>
            <p:nvPr/>
          </p:nvCxnSpPr>
          <p:spPr>
            <a:xfrm>
              <a:off x="9540326" y="2299619"/>
              <a:ext cx="0" cy="4887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535" name="Google Shape;535;p19"/>
            <p:cNvSpPr txBox="1"/>
            <p:nvPr/>
          </p:nvSpPr>
          <p:spPr>
            <a:xfrm>
              <a:off x="9611335" y="2420888"/>
              <a:ext cx="1330814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/255 *Normalization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536" name="Google Shape;536;p19"/>
            <p:cNvCxnSpPr>
              <a:stCxn id="537" idx="2"/>
              <a:endCxn id="538" idx="0"/>
            </p:cNvCxnSpPr>
            <p:nvPr/>
          </p:nvCxnSpPr>
          <p:spPr>
            <a:xfrm>
              <a:off x="9540327" y="3217852"/>
              <a:ext cx="0" cy="29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39" name="Google Shape;539;p19"/>
            <p:cNvSpPr txBox="1"/>
            <p:nvPr/>
          </p:nvSpPr>
          <p:spPr>
            <a:xfrm>
              <a:off x="9663758" y="3254193"/>
              <a:ext cx="1782860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 (Downscale : 784 → 4)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Min-Max Scaling [0,1]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540" name="Google Shape;540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20699" y="3598229"/>
              <a:ext cx="706964" cy="533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1" name="Google Shape;541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28187" y="4101255"/>
              <a:ext cx="493355" cy="522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42" name="Google Shape;542;p19"/>
            <p:cNvCxnSpPr/>
            <p:nvPr/>
          </p:nvCxnSpPr>
          <p:spPr>
            <a:xfrm>
              <a:off x="9539281" y="4034956"/>
              <a:ext cx="1045" cy="6525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43" name="Google Shape;543;p19"/>
            <p:cNvSpPr txBox="1"/>
            <p:nvPr/>
          </p:nvSpPr>
          <p:spPr>
            <a:xfrm>
              <a:off x="9600114" y="4238129"/>
              <a:ext cx="1056701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Qubit encoding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Quantum-Computing Icons - Free SVG &amp; PNG Quantum-Computing Images - Noun  Project" id="544" name="Google Shape;544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06481" y="4687523"/>
              <a:ext cx="667690" cy="66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" name="Google Shape;545;p19"/>
            <p:cNvSpPr txBox="1"/>
            <p:nvPr/>
          </p:nvSpPr>
          <p:spPr>
            <a:xfrm>
              <a:off x="9856611" y="4895028"/>
              <a:ext cx="138531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Quantum Computing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546" name="Google Shape;546;p19"/>
            <p:cNvCxnSpPr>
              <a:endCxn id="547" idx="0"/>
            </p:cNvCxnSpPr>
            <p:nvPr/>
          </p:nvCxnSpPr>
          <p:spPr>
            <a:xfrm>
              <a:off x="9540327" y="5442819"/>
              <a:ext cx="0" cy="19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48" name="Google Shape;548;p19"/>
            <p:cNvCxnSpPr>
              <a:stCxn id="549" idx="1"/>
              <a:endCxn id="550" idx="3"/>
            </p:cNvCxnSpPr>
            <p:nvPr/>
          </p:nvCxnSpPr>
          <p:spPr>
            <a:xfrm rot="10800000">
              <a:off x="7855036" y="6086248"/>
              <a:ext cx="13407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51" name="Google Shape;551;p19"/>
            <p:cNvSpPr txBox="1"/>
            <p:nvPr/>
          </p:nvSpPr>
          <p:spPr>
            <a:xfrm>
              <a:off x="7885209" y="5898951"/>
              <a:ext cx="1314651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Inverse PCA 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(Upscale : 4 → 784)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552" name="Google Shape;552;p19"/>
            <p:cNvCxnSpPr>
              <a:stCxn id="553" idx="0"/>
              <a:endCxn id="554" idx="2"/>
            </p:cNvCxnSpPr>
            <p:nvPr/>
          </p:nvCxnSpPr>
          <p:spPr>
            <a:xfrm rot="10800000">
              <a:off x="5989979" y="5127653"/>
              <a:ext cx="0" cy="52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55" name="Google Shape;555;p19"/>
            <p:cNvSpPr txBox="1"/>
            <p:nvPr/>
          </p:nvSpPr>
          <p:spPr>
            <a:xfrm>
              <a:off x="6050750" y="5212610"/>
              <a:ext cx="67037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Reshape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556" name="Google Shape;556;p19"/>
            <p:cNvCxnSpPr>
              <a:stCxn id="557" idx="2"/>
              <a:endCxn id="558" idx="0"/>
            </p:cNvCxnSpPr>
            <p:nvPr/>
          </p:nvCxnSpPr>
          <p:spPr>
            <a:xfrm flipH="1">
              <a:off x="5966628" y="2774926"/>
              <a:ext cx="7500" cy="95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559" name="Google Shape;559;p19"/>
            <p:cNvSpPr txBox="1"/>
            <p:nvPr/>
          </p:nvSpPr>
          <p:spPr>
            <a:xfrm>
              <a:off x="5931002" y="3134192"/>
              <a:ext cx="705642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Compare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560" name="Google Shape;560;p19"/>
            <p:cNvGrpSpPr/>
            <p:nvPr/>
          </p:nvGrpSpPr>
          <p:grpSpPr>
            <a:xfrm>
              <a:off x="4932453" y="1331024"/>
              <a:ext cx="1612459" cy="1443902"/>
              <a:chOff x="4932453" y="1331024"/>
              <a:chExt cx="1612459" cy="1443902"/>
            </a:xfrm>
          </p:grpSpPr>
          <p:grpSp>
            <p:nvGrpSpPr>
              <p:cNvPr id="561" name="Google Shape;561;p19"/>
              <p:cNvGrpSpPr/>
              <p:nvPr/>
            </p:nvGrpSpPr>
            <p:grpSpPr>
              <a:xfrm>
                <a:off x="4932453" y="1686459"/>
                <a:ext cx="412292" cy="1006222"/>
                <a:chOff x="4932453" y="1671455"/>
                <a:chExt cx="412292" cy="1006222"/>
              </a:xfrm>
            </p:grpSpPr>
            <p:sp>
              <p:nvSpPr>
                <p:cNvPr id="562" name="Google Shape;562;p19"/>
                <p:cNvSpPr txBox="1"/>
                <p:nvPr/>
              </p:nvSpPr>
              <p:spPr>
                <a:xfrm>
                  <a:off x="4932453" y="2051456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63" name="Google Shape;563;p19"/>
                <p:cNvCxnSpPr/>
                <p:nvPr/>
              </p:nvCxnSpPr>
              <p:spPr>
                <a:xfrm>
                  <a:off x="5285327" y="1671455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564" name="Google Shape;564;p19"/>
              <p:cNvGrpSpPr/>
              <p:nvPr/>
            </p:nvGrpSpPr>
            <p:grpSpPr>
              <a:xfrm>
                <a:off x="5366083" y="1331024"/>
                <a:ext cx="1178829" cy="1443902"/>
                <a:chOff x="5366083" y="1331024"/>
                <a:chExt cx="1178829" cy="1443902"/>
              </a:xfrm>
            </p:grpSpPr>
            <p:grpSp>
              <p:nvGrpSpPr>
                <p:cNvPr id="565" name="Google Shape;565;p19"/>
                <p:cNvGrpSpPr/>
                <p:nvPr/>
              </p:nvGrpSpPr>
              <p:grpSpPr>
                <a:xfrm>
                  <a:off x="5458875" y="1331024"/>
                  <a:ext cx="1030504" cy="1443902"/>
                  <a:chOff x="5455875" y="1331024"/>
                  <a:chExt cx="1030504" cy="1443902"/>
                </a:xfrm>
              </p:grpSpPr>
              <p:sp>
                <p:nvSpPr>
                  <p:cNvPr id="566" name="Google Shape;566;p19"/>
                  <p:cNvSpPr txBox="1"/>
                  <p:nvPr/>
                </p:nvSpPr>
                <p:spPr>
                  <a:xfrm>
                    <a:off x="5764982" y="1331024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cxnSp>
                <p:nvCxnSpPr>
                  <p:cNvPr id="567" name="Google Shape;567;p19"/>
                  <p:cNvCxnSpPr/>
                  <p:nvPr/>
                </p:nvCxnSpPr>
                <p:spPr>
                  <a:xfrm>
                    <a:off x="5455875" y="1553839"/>
                    <a:ext cx="1030504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triangle"/>
                    <a:tailEnd len="med" w="med" type="triangle"/>
                  </a:ln>
                </p:spPr>
              </p:cxnSp>
              <p:sp>
                <p:nvSpPr>
                  <p:cNvPr id="557" name="Google Shape;557;p19"/>
                  <p:cNvSpPr txBox="1"/>
                  <p:nvPr/>
                </p:nvSpPr>
                <p:spPr>
                  <a:xfrm>
                    <a:off x="5764982" y="2536399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grpSp>
              <p:nvGrpSpPr>
                <p:cNvPr id="568" name="Google Shape;568;p19"/>
                <p:cNvGrpSpPr/>
                <p:nvPr/>
              </p:nvGrpSpPr>
              <p:grpSpPr>
                <a:xfrm>
                  <a:off x="5366083" y="1627688"/>
                  <a:ext cx="1178829" cy="1123765"/>
                  <a:chOff x="5366083" y="1627688"/>
                  <a:chExt cx="1178829" cy="1123765"/>
                </a:xfrm>
              </p:grpSpPr>
              <p:pic>
                <p:nvPicPr>
                  <p:cNvPr id="524" name="Google Shape;524;p19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5464912" y="1671453"/>
                    <a:ext cx="1080000" cy="10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69" name="Google Shape;569;p19"/>
                  <p:cNvSpPr txBox="1"/>
                  <p:nvPr/>
                </p:nvSpPr>
                <p:spPr>
                  <a:xfrm>
                    <a:off x="5366083" y="1627688"/>
                    <a:ext cx="667170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1" lang="ko-KR" sz="9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Original</a:t>
                    </a:r>
                    <a:endParaRPr b="1" i="1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</p:grpSp>
        </p:grpSp>
        <p:grpSp>
          <p:nvGrpSpPr>
            <p:cNvPr id="570" name="Google Shape;570;p19"/>
            <p:cNvGrpSpPr/>
            <p:nvPr/>
          </p:nvGrpSpPr>
          <p:grpSpPr>
            <a:xfrm>
              <a:off x="4932453" y="3734354"/>
              <a:ext cx="1597527" cy="1393322"/>
              <a:chOff x="4932453" y="3734354"/>
              <a:chExt cx="1597527" cy="1393322"/>
            </a:xfrm>
          </p:grpSpPr>
          <p:grpSp>
            <p:nvGrpSpPr>
              <p:cNvPr id="571" name="Google Shape;571;p19"/>
              <p:cNvGrpSpPr/>
              <p:nvPr/>
            </p:nvGrpSpPr>
            <p:grpSpPr>
              <a:xfrm>
                <a:off x="4932453" y="4082219"/>
                <a:ext cx="412292" cy="1006222"/>
                <a:chOff x="4932453" y="4068764"/>
                <a:chExt cx="412292" cy="1006222"/>
              </a:xfrm>
            </p:grpSpPr>
            <p:sp>
              <p:nvSpPr>
                <p:cNvPr id="572" name="Google Shape;572;p19"/>
                <p:cNvSpPr txBox="1"/>
                <p:nvPr/>
              </p:nvSpPr>
              <p:spPr>
                <a:xfrm>
                  <a:off x="4932453" y="4448765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73" name="Google Shape;573;p19"/>
                <p:cNvCxnSpPr/>
                <p:nvPr/>
              </p:nvCxnSpPr>
              <p:spPr>
                <a:xfrm>
                  <a:off x="5285327" y="4068764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574" name="Google Shape;574;p19"/>
              <p:cNvGrpSpPr/>
              <p:nvPr/>
            </p:nvGrpSpPr>
            <p:grpSpPr>
              <a:xfrm>
                <a:off x="5387595" y="4042985"/>
                <a:ext cx="1142385" cy="1084691"/>
                <a:chOff x="5387595" y="4042985"/>
                <a:chExt cx="1142385" cy="1084691"/>
              </a:xfrm>
            </p:grpSpPr>
            <p:pic>
              <p:nvPicPr>
                <p:cNvPr id="554" name="Google Shape;554;p19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5449980" y="4047676"/>
                  <a:ext cx="108000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5" name="Google Shape;575;p19"/>
                <p:cNvSpPr txBox="1"/>
                <p:nvPr/>
              </p:nvSpPr>
              <p:spPr>
                <a:xfrm>
                  <a:off x="5387595" y="4042985"/>
                  <a:ext cx="816249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1" lang="ko-KR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Generated</a:t>
                  </a:r>
                  <a:endParaRPr b="1" i="1"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</p:grpSp>
          <p:grpSp>
            <p:nvGrpSpPr>
              <p:cNvPr id="576" name="Google Shape;576;p19"/>
              <p:cNvGrpSpPr/>
              <p:nvPr/>
            </p:nvGrpSpPr>
            <p:grpSpPr>
              <a:xfrm>
                <a:off x="5451409" y="3734354"/>
                <a:ext cx="1030504" cy="238527"/>
                <a:chOff x="5455875" y="1331024"/>
                <a:chExt cx="1030504" cy="238527"/>
              </a:xfrm>
            </p:grpSpPr>
            <p:sp>
              <p:nvSpPr>
                <p:cNvPr id="558" name="Google Shape;558;p19"/>
                <p:cNvSpPr txBox="1"/>
                <p:nvPr/>
              </p:nvSpPr>
              <p:spPr>
                <a:xfrm>
                  <a:off x="5764982" y="1331024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77" name="Google Shape;577;p19"/>
                <p:cNvCxnSpPr/>
                <p:nvPr/>
              </p:nvCxnSpPr>
              <p:spPr>
                <a:xfrm>
                  <a:off x="5455875" y="1553839"/>
                  <a:ext cx="1030504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578" name="Google Shape;578;p19"/>
            <p:cNvGrpSpPr/>
            <p:nvPr/>
          </p:nvGrpSpPr>
          <p:grpSpPr>
            <a:xfrm>
              <a:off x="8231742" y="2788378"/>
              <a:ext cx="2617168" cy="429474"/>
              <a:chOff x="8231742" y="2788378"/>
              <a:chExt cx="2617168" cy="429474"/>
            </a:xfrm>
          </p:grpSpPr>
          <p:sp>
            <p:nvSpPr>
              <p:cNvPr id="537" name="Google Shape;537;p19"/>
              <p:cNvSpPr txBox="1"/>
              <p:nvPr/>
            </p:nvSpPr>
            <p:spPr>
              <a:xfrm>
                <a:off x="8768321" y="2979325"/>
                <a:ext cx="1544012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Data distribution = [0, 1]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579" name="Google Shape;579;p19"/>
              <p:cNvSpPr/>
              <p:nvPr/>
            </p:nvSpPr>
            <p:spPr>
              <a:xfrm>
                <a:off x="8231742" y="2788378"/>
                <a:ext cx="2617168" cy="169349"/>
              </a:xfrm>
              <a:prstGeom prst="rect">
                <a:avLst/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5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580" name="Google Shape;580;p19"/>
            <p:cNvGrpSpPr/>
            <p:nvPr/>
          </p:nvGrpSpPr>
          <p:grpSpPr>
            <a:xfrm>
              <a:off x="9195736" y="3513565"/>
              <a:ext cx="1015063" cy="566714"/>
              <a:chOff x="9195736" y="3513565"/>
              <a:chExt cx="1015063" cy="566714"/>
            </a:xfrm>
          </p:grpSpPr>
          <p:grpSp>
            <p:nvGrpSpPr>
              <p:cNvPr id="581" name="Google Shape;581;p19"/>
              <p:cNvGrpSpPr/>
              <p:nvPr/>
            </p:nvGrpSpPr>
            <p:grpSpPr>
              <a:xfrm>
                <a:off x="9195736" y="3513565"/>
                <a:ext cx="689181" cy="521391"/>
                <a:chOff x="8231742" y="1778228"/>
                <a:chExt cx="2617168" cy="521391"/>
              </a:xfrm>
            </p:grpSpPr>
            <p:sp>
              <p:nvSpPr>
                <p:cNvPr id="582" name="Google Shape;582;p19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538" name="Google Shape;538;p19"/>
                <p:cNvSpPr txBox="1"/>
                <p:nvPr/>
              </p:nvSpPr>
              <p:spPr>
                <a:xfrm>
                  <a:off x="9043595" y="1778228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4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83" name="Google Shape;583;p19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584" name="Google Shape;584;p19"/>
              <p:cNvGrpSpPr/>
              <p:nvPr/>
            </p:nvGrpSpPr>
            <p:grpSpPr>
              <a:xfrm>
                <a:off x="9949189" y="3834058"/>
                <a:ext cx="261610" cy="246221"/>
                <a:chOff x="10899930" y="2098636"/>
                <a:chExt cx="993465" cy="246221"/>
              </a:xfrm>
            </p:grpSpPr>
            <p:sp>
              <p:nvSpPr>
                <p:cNvPr id="585" name="Google Shape;585;p19"/>
                <p:cNvSpPr txBox="1"/>
                <p:nvPr/>
              </p:nvSpPr>
              <p:spPr>
                <a:xfrm>
                  <a:off x="10899930" y="2098636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586" name="Google Shape;586;p19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549" name="Google Shape;549;p19"/>
            <p:cNvSpPr/>
            <p:nvPr/>
          </p:nvSpPr>
          <p:spPr>
            <a:xfrm>
              <a:off x="9195736" y="6005473"/>
              <a:ext cx="689181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47" name="Google Shape;547;p19"/>
            <p:cNvSpPr txBox="1"/>
            <p:nvPr/>
          </p:nvSpPr>
          <p:spPr>
            <a:xfrm>
              <a:off x="9409522" y="5641119"/>
              <a:ext cx="26161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587" name="Google Shape;587;p19"/>
            <p:cNvCxnSpPr/>
            <p:nvPr/>
          </p:nvCxnSpPr>
          <p:spPr>
            <a:xfrm>
              <a:off x="9195736" y="5889187"/>
              <a:ext cx="68918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588" name="Google Shape;588;p19"/>
            <p:cNvGrpSpPr/>
            <p:nvPr/>
          </p:nvGrpSpPr>
          <p:grpSpPr>
            <a:xfrm>
              <a:off x="9949189" y="5967037"/>
              <a:ext cx="261610" cy="246221"/>
              <a:chOff x="10899930" y="2098636"/>
              <a:chExt cx="993465" cy="246221"/>
            </a:xfrm>
          </p:grpSpPr>
          <p:sp>
            <p:nvSpPr>
              <p:cNvPr id="589" name="Google Shape;589;p19"/>
              <p:cNvSpPr txBox="1"/>
              <p:nvPr/>
            </p:nvSpPr>
            <p:spPr>
              <a:xfrm>
                <a:off x="10899930" y="2098636"/>
                <a:ext cx="99346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590" name="Google Shape;590;p19"/>
              <p:cNvCxnSpPr/>
              <p:nvPr/>
            </p:nvCxnSpPr>
            <p:spPr>
              <a:xfrm>
                <a:off x="10942039" y="2125667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591" name="Google Shape;591;p19"/>
            <p:cNvSpPr/>
            <p:nvPr/>
          </p:nvSpPr>
          <p:spPr>
            <a:xfrm>
              <a:off x="4995959" y="6005473"/>
              <a:ext cx="2617168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53" name="Google Shape;553;p19"/>
            <p:cNvSpPr txBox="1"/>
            <p:nvPr/>
          </p:nvSpPr>
          <p:spPr>
            <a:xfrm>
              <a:off x="5544985" y="5652053"/>
              <a:ext cx="88998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784 (=28*28)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592" name="Google Shape;592;p19"/>
            <p:cNvCxnSpPr/>
            <p:nvPr/>
          </p:nvCxnSpPr>
          <p:spPr>
            <a:xfrm>
              <a:off x="4995959" y="5900121"/>
              <a:ext cx="26171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593" name="Google Shape;593;p19"/>
            <p:cNvGrpSpPr/>
            <p:nvPr/>
          </p:nvGrpSpPr>
          <p:grpSpPr>
            <a:xfrm>
              <a:off x="7641492" y="5967037"/>
              <a:ext cx="213520" cy="238527"/>
              <a:chOff x="7674150" y="5967037"/>
              <a:chExt cx="213520" cy="238527"/>
            </a:xfrm>
          </p:grpSpPr>
          <p:sp>
            <p:nvSpPr>
              <p:cNvPr id="550" name="Google Shape;550;p19"/>
              <p:cNvSpPr txBox="1"/>
              <p:nvPr/>
            </p:nvSpPr>
            <p:spPr>
              <a:xfrm>
                <a:off x="7674150" y="5967037"/>
                <a:ext cx="213520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594" name="Google Shape;594;p19"/>
              <p:cNvCxnSpPr/>
              <p:nvPr/>
            </p:nvCxnSpPr>
            <p:spPr>
              <a:xfrm>
                <a:off x="7706256" y="5999492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595" name="Google Shape;595;p19"/>
          <p:cNvSpPr/>
          <p:nvPr/>
        </p:nvSpPr>
        <p:spPr>
          <a:xfrm>
            <a:off x="4866416" y="3818377"/>
            <a:ext cx="6854529" cy="264335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0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QuGAN Generation 2-2</a:t>
            </a:r>
            <a:endParaRPr/>
          </a:p>
        </p:txBody>
      </p:sp>
      <p:sp>
        <p:nvSpPr>
          <p:cNvPr id="601" name="Google Shape;601;p20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602" name="Google Shape;602;p20"/>
          <p:cNvGrpSpPr/>
          <p:nvPr/>
        </p:nvGrpSpPr>
        <p:grpSpPr>
          <a:xfrm>
            <a:off x="625709" y="1417829"/>
            <a:ext cx="10992681" cy="4952647"/>
            <a:chOff x="453937" y="1331024"/>
            <a:chExt cx="10992681" cy="4952648"/>
          </a:xfrm>
        </p:grpSpPr>
        <p:grpSp>
          <p:nvGrpSpPr>
            <p:cNvPr id="603" name="Google Shape;603;p20"/>
            <p:cNvGrpSpPr/>
            <p:nvPr/>
          </p:nvGrpSpPr>
          <p:grpSpPr>
            <a:xfrm>
              <a:off x="453937" y="1953734"/>
              <a:ext cx="1820975" cy="1443901"/>
              <a:chOff x="453937" y="1953734"/>
              <a:chExt cx="1820975" cy="1443901"/>
            </a:xfrm>
          </p:grpSpPr>
          <p:pic>
            <p:nvPicPr>
              <p:cNvPr id="604" name="Google Shape;604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3937" y="1953734"/>
                <a:ext cx="1820975" cy="1089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5" name="Google Shape;605;p20"/>
              <p:cNvSpPr txBox="1"/>
              <p:nvPr/>
            </p:nvSpPr>
            <p:spPr>
              <a:xfrm>
                <a:off x="846494" y="3151414"/>
                <a:ext cx="10358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00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Mnist Dataset</a:t>
                </a:r>
                <a:endParaRPr b="1" sz="10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606" name="Google Shape;606;p20"/>
            <p:cNvGrpSpPr/>
            <p:nvPr/>
          </p:nvGrpSpPr>
          <p:grpSpPr>
            <a:xfrm>
              <a:off x="2529049" y="1442726"/>
              <a:ext cx="811441" cy="1158008"/>
              <a:chOff x="2529049" y="1442726"/>
              <a:chExt cx="811441" cy="1158008"/>
            </a:xfrm>
          </p:grpSpPr>
          <p:pic>
            <p:nvPicPr>
              <p:cNvPr descr="Dataset Icons - Free SVG &amp; PNG Dataset Images - Noun Project" id="607" name="Google Shape;607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67539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8" name="Google Shape;608;p20"/>
              <p:cNvSpPr txBox="1"/>
              <p:nvPr/>
            </p:nvSpPr>
            <p:spPr>
              <a:xfrm>
                <a:off x="2529049" y="2216013"/>
                <a:ext cx="81144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Train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60,000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609" name="Google Shape;609;p20"/>
            <p:cNvGrpSpPr/>
            <p:nvPr/>
          </p:nvGrpSpPr>
          <p:grpSpPr>
            <a:xfrm>
              <a:off x="2557904" y="2845009"/>
              <a:ext cx="753732" cy="1143372"/>
              <a:chOff x="2557904" y="2886929"/>
              <a:chExt cx="753732" cy="1143372"/>
            </a:xfrm>
          </p:grpSpPr>
          <p:pic>
            <p:nvPicPr>
              <p:cNvPr descr="Dataset Icons - Free SVG &amp; PNG Dataset Images - Noun Project" id="610" name="Google Shape;610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567539" y="2886929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1" name="Google Shape;611;p20"/>
              <p:cNvSpPr txBox="1"/>
              <p:nvPr/>
            </p:nvSpPr>
            <p:spPr>
              <a:xfrm>
                <a:off x="2557904" y="3645580"/>
                <a:ext cx="753732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Test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cxnSp>
          <p:nvCxnSpPr>
            <p:cNvPr id="612" name="Google Shape;612;p20"/>
            <p:cNvCxnSpPr>
              <a:stCxn id="607" idx="3"/>
              <a:endCxn id="613" idx="1"/>
            </p:cNvCxnSpPr>
            <p:nvPr/>
          </p:nvCxnSpPr>
          <p:spPr>
            <a:xfrm>
              <a:off x="3301998" y="1809956"/>
              <a:ext cx="65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614" name="Google Shape;614;p20"/>
            <p:cNvGrpSpPr/>
            <p:nvPr/>
          </p:nvGrpSpPr>
          <p:grpSpPr>
            <a:xfrm>
              <a:off x="3850799" y="1442726"/>
              <a:ext cx="939681" cy="1158008"/>
              <a:chOff x="3850799" y="1442726"/>
              <a:chExt cx="939681" cy="1158008"/>
            </a:xfrm>
          </p:grpSpPr>
          <p:pic>
            <p:nvPicPr>
              <p:cNvPr descr="Dataset Icons - Free SVG &amp; PNG Dataset Images - Noun Project" id="613" name="Google Shape;613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53410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5" name="Google Shape;615;p20"/>
              <p:cNvSpPr txBox="1"/>
              <p:nvPr/>
            </p:nvSpPr>
            <p:spPr>
              <a:xfrm>
                <a:off x="3850799" y="2216013"/>
                <a:ext cx="93968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Sample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616" name="Google Shape;616;p20"/>
            <p:cNvSpPr txBox="1"/>
            <p:nvPr/>
          </p:nvSpPr>
          <p:spPr>
            <a:xfrm>
              <a:off x="3232187" y="1442726"/>
              <a:ext cx="724878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Sampling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617" name="Google Shape;617;p20"/>
            <p:cNvCxnSpPr>
              <a:stCxn id="618" idx="3"/>
              <a:endCxn id="619" idx="1"/>
            </p:cNvCxnSpPr>
            <p:nvPr/>
          </p:nvCxnSpPr>
          <p:spPr>
            <a:xfrm>
              <a:off x="6544912" y="2211453"/>
              <a:ext cx="1686900" cy="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20" name="Google Shape;620;p20"/>
            <p:cNvSpPr txBox="1"/>
            <p:nvPr/>
          </p:nvSpPr>
          <p:spPr>
            <a:xfrm>
              <a:off x="6911851" y="1938658"/>
              <a:ext cx="76174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1D Flatten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621" name="Google Shape;621;p20"/>
            <p:cNvGrpSpPr/>
            <p:nvPr/>
          </p:nvGrpSpPr>
          <p:grpSpPr>
            <a:xfrm>
              <a:off x="8231742" y="1778228"/>
              <a:ext cx="2971908" cy="566629"/>
              <a:chOff x="8231742" y="1778228"/>
              <a:chExt cx="2971908" cy="566629"/>
            </a:xfrm>
          </p:grpSpPr>
          <p:grpSp>
            <p:nvGrpSpPr>
              <p:cNvPr id="622" name="Google Shape;622;p20"/>
              <p:cNvGrpSpPr/>
              <p:nvPr/>
            </p:nvGrpSpPr>
            <p:grpSpPr>
              <a:xfrm>
                <a:off x="8231742" y="1778228"/>
                <a:ext cx="2617168" cy="521391"/>
                <a:chOff x="8231742" y="1778228"/>
                <a:chExt cx="2617168" cy="521391"/>
              </a:xfrm>
            </p:grpSpPr>
            <p:sp>
              <p:nvSpPr>
                <p:cNvPr id="619" name="Google Shape;619;p20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623" name="Google Shape;623;p20"/>
                <p:cNvSpPr txBox="1"/>
                <p:nvPr/>
              </p:nvSpPr>
              <p:spPr>
                <a:xfrm>
                  <a:off x="9095333" y="1778228"/>
                  <a:ext cx="889987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784 (=28*28)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624" name="Google Shape;624;p20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625" name="Google Shape;625;p20"/>
              <p:cNvGrpSpPr/>
              <p:nvPr/>
            </p:nvGrpSpPr>
            <p:grpSpPr>
              <a:xfrm>
                <a:off x="10942039" y="2098636"/>
                <a:ext cx="261611" cy="246221"/>
                <a:chOff x="10942039" y="2098636"/>
                <a:chExt cx="261611" cy="246221"/>
              </a:xfrm>
            </p:grpSpPr>
            <p:sp>
              <p:nvSpPr>
                <p:cNvPr id="626" name="Google Shape;626;p20"/>
                <p:cNvSpPr txBox="1"/>
                <p:nvPr/>
              </p:nvSpPr>
              <p:spPr>
                <a:xfrm>
                  <a:off x="10942040" y="2098636"/>
                  <a:ext cx="26161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627" name="Google Shape;627;p20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cxnSp>
          <p:nvCxnSpPr>
            <p:cNvPr id="628" name="Google Shape;628;p20"/>
            <p:cNvCxnSpPr/>
            <p:nvPr/>
          </p:nvCxnSpPr>
          <p:spPr>
            <a:xfrm>
              <a:off x="9540326" y="2299619"/>
              <a:ext cx="0" cy="4887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29" name="Google Shape;629;p20"/>
            <p:cNvSpPr txBox="1"/>
            <p:nvPr/>
          </p:nvSpPr>
          <p:spPr>
            <a:xfrm>
              <a:off x="9611335" y="2420888"/>
              <a:ext cx="1330814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/255 *Normalization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630" name="Google Shape;630;p20"/>
            <p:cNvCxnSpPr>
              <a:stCxn id="631" idx="2"/>
              <a:endCxn id="632" idx="0"/>
            </p:cNvCxnSpPr>
            <p:nvPr/>
          </p:nvCxnSpPr>
          <p:spPr>
            <a:xfrm>
              <a:off x="9540327" y="3217852"/>
              <a:ext cx="0" cy="29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33" name="Google Shape;633;p20"/>
            <p:cNvSpPr txBox="1"/>
            <p:nvPr/>
          </p:nvSpPr>
          <p:spPr>
            <a:xfrm>
              <a:off x="9663758" y="3254193"/>
              <a:ext cx="1782860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 (Downscale : 784 → 4)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Min-Max Scaling [0,1]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634" name="Google Shape;634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20699" y="3598229"/>
              <a:ext cx="706964" cy="533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5" name="Google Shape;635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28187" y="4101255"/>
              <a:ext cx="493355" cy="522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36" name="Google Shape;636;p20"/>
            <p:cNvCxnSpPr/>
            <p:nvPr/>
          </p:nvCxnSpPr>
          <p:spPr>
            <a:xfrm>
              <a:off x="9539281" y="4034956"/>
              <a:ext cx="1045" cy="6525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37" name="Google Shape;637;p20"/>
            <p:cNvSpPr txBox="1"/>
            <p:nvPr/>
          </p:nvSpPr>
          <p:spPr>
            <a:xfrm>
              <a:off x="9600114" y="4238129"/>
              <a:ext cx="1056701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Qubit encoding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Quantum-Computing Icons - Free SVG &amp; PNG Quantum-Computing Images - Noun  Project" id="638" name="Google Shape;638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06481" y="4687523"/>
              <a:ext cx="667690" cy="66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9" name="Google Shape;639;p20"/>
            <p:cNvSpPr txBox="1"/>
            <p:nvPr/>
          </p:nvSpPr>
          <p:spPr>
            <a:xfrm>
              <a:off x="9856611" y="4895028"/>
              <a:ext cx="138531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Quantum Computing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640" name="Google Shape;640;p20"/>
            <p:cNvCxnSpPr>
              <a:endCxn id="641" idx="0"/>
            </p:cNvCxnSpPr>
            <p:nvPr/>
          </p:nvCxnSpPr>
          <p:spPr>
            <a:xfrm>
              <a:off x="9540327" y="5442819"/>
              <a:ext cx="0" cy="19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42" name="Google Shape;642;p20"/>
            <p:cNvCxnSpPr>
              <a:stCxn id="643" idx="1"/>
              <a:endCxn id="644" idx="3"/>
            </p:cNvCxnSpPr>
            <p:nvPr/>
          </p:nvCxnSpPr>
          <p:spPr>
            <a:xfrm rot="10800000">
              <a:off x="7855036" y="6086248"/>
              <a:ext cx="13407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45" name="Google Shape;645;p20"/>
            <p:cNvSpPr txBox="1"/>
            <p:nvPr/>
          </p:nvSpPr>
          <p:spPr>
            <a:xfrm>
              <a:off x="7885209" y="5898951"/>
              <a:ext cx="1314651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Inverse PCA 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(Upscale : 4 → 784)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646" name="Google Shape;646;p20"/>
            <p:cNvCxnSpPr>
              <a:stCxn id="647" idx="0"/>
              <a:endCxn id="648" idx="2"/>
            </p:cNvCxnSpPr>
            <p:nvPr/>
          </p:nvCxnSpPr>
          <p:spPr>
            <a:xfrm rot="10800000">
              <a:off x="5989979" y="5127653"/>
              <a:ext cx="0" cy="52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49" name="Google Shape;649;p20"/>
            <p:cNvSpPr txBox="1"/>
            <p:nvPr/>
          </p:nvSpPr>
          <p:spPr>
            <a:xfrm>
              <a:off x="6049948" y="5212610"/>
              <a:ext cx="671980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Reshape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650" name="Google Shape;650;p20"/>
            <p:cNvCxnSpPr>
              <a:stCxn id="651" idx="2"/>
              <a:endCxn id="652" idx="0"/>
            </p:cNvCxnSpPr>
            <p:nvPr/>
          </p:nvCxnSpPr>
          <p:spPr>
            <a:xfrm flipH="1">
              <a:off x="5966628" y="2774926"/>
              <a:ext cx="7500" cy="95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53" name="Google Shape;653;p20"/>
            <p:cNvSpPr txBox="1"/>
            <p:nvPr/>
          </p:nvSpPr>
          <p:spPr>
            <a:xfrm>
              <a:off x="5932605" y="3134192"/>
              <a:ext cx="70243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Compare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654" name="Google Shape;654;p20"/>
            <p:cNvGrpSpPr/>
            <p:nvPr/>
          </p:nvGrpSpPr>
          <p:grpSpPr>
            <a:xfrm>
              <a:off x="4932453" y="1331024"/>
              <a:ext cx="1612459" cy="1443902"/>
              <a:chOff x="4932453" y="1331024"/>
              <a:chExt cx="1612459" cy="1443902"/>
            </a:xfrm>
          </p:grpSpPr>
          <p:grpSp>
            <p:nvGrpSpPr>
              <p:cNvPr id="655" name="Google Shape;655;p20"/>
              <p:cNvGrpSpPr/>
              <p:nvPr/>
            </p:nvGrpSpPr>
            <p:grpSpPr>
              <a:xfrm>
                <a:off x="4932453" y="1686459"/>
                <a:ext cx="412292" cy="1006222"/>
                <a:chOff x="4932453" y="1671455"/>
                <a:chExt cx="412292" cy="1006222"/>
              </a:xfrm>
            </p:grpSpPr>
            <p:sp>
              <p:nvSpPr>
                <p:cNvPr id="656" name="Google Shape;656;p20"/>
                <p:cNvSpPr txBox="1"/>
                <p:nvPr/>
              </p:nvSpPr>
              <p:spPr>
                <a:xfrm>
                  <a:off x="4932453" y="2051456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657" name="Google Shape;657;p20"/>
                <p:cNvCxnSpPr/>
                <p:nvPr/>
              </p:nvCxnSpPr>
              <p:spPr>
                <a:xfrm>
                  <a:off x="5285327" y="1671455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658" name="Google Shape;658;p20"/>
              <p:cNvGrpSpPr/>
              <p:nvPr/>
            </p:nvGrpSpPr>
            <p:grpSpPr>
              <a:xfrm>
                <a:off x="5366083" y="1331024"/>
                <a:ext cx="1178829" cy="1443902"/>
                <a:chOff x="5366083" y="1331024"/>
                <a:chExt cx="1178829" cy="1443902"/>
              </a:xfrm>
            </p:grpSpPr>
            <p:grpSp>
              <p:nvGrpSpPr>
                <p:cNvPr id="659" name="Google Shape;659;p20"/>
                <p:cNvGrpSpPr/>
                <p:nvPr/>
              </p:nvGrpSpPr>
              <p:grpSpPr>
                <a:xfrm>
                  <a:off x="5458875" y="1331024"/>
                  <a:ext cx="1030504" cy="1443902"/>
                  <a:chOff x="5455875" y="1331024"/>
                  <a:chExt cx="1030504" cy="1443902"/>
                </a:xfrm>
              </p:grpSpPr>
              <p:sp>
                <p:nvSpPr>
                  <p:cNvPr id="660" name="Google Shape;660;p20"/>
                  <p:cNvSpPr txBox="1"/>
                  <p:nvPr/>
                </p:nvSpPr>
                <p:spPr>
                  <a:xfrm>
                    <a:off x="5764982" y="1331024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cxnSp>
                <p:nvCxnSpPr>
                  <p:cNvPr id="661" name="Google Shape;661;p20"/>
                  <p:cNvCxnSpPr/>
                  <p:nvPr/>
                </p:nvCxnSpPr>
                <p:spPr>
                  <a:xfrm>
                    <a:off x="5455875" y="1553839"/>
                    <a:ext cx="1030504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triangle"/>
                    <a:tailEnd len="med" w="med" type="triangle"/>
                  </a:ln>
                </p:spPr>
              </p:cxnSp>
              <p:sp>
                <p:nvSpPr>
                  <p:cNvPr id="651" name="Google Shape;651;p20"/>
                  <p:cNvSpPr txBox="1"/>
                  <p:nvPr/>
                </p:nvSpPr>
                <p:spPr>
                  <a:xfrm>
                    <a:off x="5764982" y="2536399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grpSp>
              <p:nvGrpSpPr>
                <p:cNvPr id="662" name="Google Shape;662;p20"/>
                <p:cNvGrpSpPr/>
                <p:nvPr/>
              </p:nvGrpSpPr>
              <p:grpSpPr>
                <a:xfrm>
                  <a:off x="5366083" y="1627688"/>
                  <a:ext cx="1178829" cy="1123765"/>
                  <a:chOff x="5366083" y="1627688"/>
                  <a:chExt cx="1178829" cy="1123765"/>
                </a:xfrm>
              </p:grpSpPr>
              <p:pic>
                <p:nvPicPr>
                  <p:cNvPr id="618" name="Google Shape;618;p20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5464912" y="1671453"/>
                    <a:ext cx="1080000" cy="10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63" name="Google Shape;663;p20"/>
                  <p:cNvSpPr txBox="1"/>
                  <p:nvPr/>
                </p:nvSpPr>
                <p:spPr>
                  <a:xfrm>
                    <a:off x="5366083" y="1627688"/>
                    <a:ext cx="667170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1" lang="ko-KR" sz="9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Original</a:t>
                    </a:r>
                    <a:endParaRPr b="1" i="1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</p:grpSp>
        </p:grpSp>
        <p:grpSp>
          <p:nvGrpSpPr>
            <p:cNvPr id="664" name="Google Shape;664;p20"/>
            <p:cNvGrpSpPr/>
            <p:nvPr/>
          </p:nvGrpSpPr>
          <p:grpSpPr>
            <a:xfrm>
              <a:off x="4932453" y="3734354"/>
              <a:ext cx="1597527" cy="1393322"/>
              <a:chOff x="4932453" y="3734354"/>
              <a:chExt cx="1597527" cy="1393322"/>
            </a:xfrm>
          </p:grpSpPr>
          <p:grpSp>
            <p:nvGrpSpPr>
              <p:cNvPr id="665" name="Google Shape;665;p20"/>
              <p:cNvGrpSpPr/>
              <p:nvPr/>
            </p:nvGrpSpPr>
            <p:grpSpPr>
              <a:xfrm>
                <a:off x="4932453" y="4082219"/>
                <a:ext cx="412292" cy="1006222"/>
                <a:chOff x="4932453" y="4068764"/>
                <a:chExt cx="412292" cy="1006222"/>
              </a:xfrm>
            </p:grpSpPr>
            <p:sp>
              <p:nvSpPr>
                <p:cNvPr id="666" name="Google Shape;666;p20"/>
                <p:cNvSpPr txBox="1"/>
                <p:nvPr/>
              </p:nvSpPr>
              <p:spPr>
                <a:xfrm>
                  <a:off x="4932453" y="4448765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667" name="Google Shape;667;p20"/>
                <p:cNvCxnSpPr/>
                <p:nvPr/>
              </p:nvCxnSpPr>
              <p:spPr>
                <a:xfrm>
                  <a:off x="5285327" y="4068764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668" name="Google Shape;668;p20"/>
              <p:cNvGrpSpPr/>
              <p:nvPr/>
            </p:nvGrpSpPr>
            <p:grpSpPr>
              <a:xfrm>
                <a:off x="5393205" y="4042985"/>
                <a:ext cx="1136775" cy="1084691"/>
                <a:chOff x="5393205" y="4042985"/>
                <a:chExt cx="1136775" cy="1084691"/>
              </a:xfrm>
            </p:grpSpPr>
            <p:pic>
              <p:nvPicPr>
                <p:cNvPr id="648" name="Google Shape;648;p20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5449980" y="4047676"/>
                  <a:ext cx="108000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69" name="Google Shape;669;p20"/>
                <p:cNvSpPr txBox="1"/>
                <p:nvPr/>
              </p:nvSpPr>
              <p:spPr>
                <a:xfrm>
                  <a:off x="5393205" y="4042985"/>
                  <a:ext cx="805029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1" lang="ko-KR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Generated</a:t>
                  </a:r>
                  <a:endParaRPr b="1" i="1"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</p:grpSp>
          <p:grpSp>
            <p:nvGrpSpPr>
              <p:cNvPr id="670" name="Google Shape;670;p20"/>
              <p:cNvGrpSpPr/>
              <p:nvPr/>
            </p:nvGrpSpPr>
            <p:grpSpPr>
              <a:xfrm>
                <a:off x="5451409" y="3734354"/>
                <a:ext cx="1030504" cy="238527"/>
                <a:chOff x="5455875" y="1331024"/>
                <a:chExt cx="1030504" cy="238527"/>
              </a:xfrm>
            </p:grpSpPr>
            <p:sp>
              <p:nvSpPr>
                <p:cNvPr id="652" name="Google Shape;652;p20"/>
                <p:cNvSpPr txBox="1"/>
                <p:nvPr/>
              </p:nvSpPr>
              <p:spPr>
                <a:xfrm>
                  <a:off x="5764982" y="1331024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671" name="Google Shape;671;p20"/>
                <p:cNvCxnSpPr/>
                <p:nvPr/>
              </p:nvCxnSpPr>
              <p:spPr>
                <a:xfrm>
                  <a:off x="5455875" y="1553839"/>
                  <a:ext cx="1030504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672" name="Google Shape;672;p20"/>
            <p:cNvGrpSpPr/>
            <p:nvPr/>
          </p:nvGrpSpPr>
          <p:grpSpPr>
            <a:xfrm>
              <a:off x="8231742" y="2788378"/>
              <a:ext cx="2617168" cy="429474"/>
              <a:chOff x="8231742" y="2788378"/>
              <a:chExt cx="2617168" cy="429474"/>
            </a:xfrm>
          </p:grpSpPr>
          <p:sp>
            <p:nvSpPr>
              <p:cNvPr id="631" name="Google Shape;631;p20"/>
              <p:cNvSpPr txBox="1"/>
              <p:nvPr/>
            </p:nvSpPr>
            <p:spPr>
              <a:xfrm>
                <a:off x="8768321" y="2979325"/>
                <a:ext cx="1544012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Data distribution = [0, 1]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673" name="Google Shape;673;p20"/>
              <p:cNvSpPr/>
              <p:nvPr/>
            </p:nvSpPr>
            <p:spPr>
              <a:xfrm>
                <a:off x="8231742" y="2788378"/>
                <a:ext cx="2617168" cy="169349"/>
              </a:xfrm>
              <a:prstGeom prst="rect">
                <a:avLst/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5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674" name="Google Shape;674;p20"/>
            <p:cNvGrpSpPr/>
            <p:nvPr/>
          </p:nvGrpSpPr>
          <p:grpSpPr>
            <a:xfrm>
              <a:off x="9195736" y="3513565"/>
              <a:ext cx="1015063" cy="566714"/>
              <a:chOff x="9195736" y="3513565"/>
              <a:chExt cx="1015063" cy="566714"/>
            </a:xfrm>
          </p:grpSpPr>
          <p:grpSp>
            <p:nvGrpSpPr>
              <p:cNvPr id="675" name="Google Shape;675;p20"/>
              <p:cNvGrpSpPr/>
              <p:nvPr/>
            </p:nvGrpSpPr>
            <p:grpSpPr>
              <a:xfrm>
                <a:off x="9195736" y="3513565"/>
                <a:ext cx="689181" cy="521391"/>
                <a:chOff x="8231742" y="1778228"/>
                <a:chExt cx="2617168" cy="521391"/>
              </a:xfrm>
            </p:grpSpPr>
            <p:sp>
              <p:nvSpPr>
                <p:cNvPr id="676" name="Google Shape;676;p20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632" name="Google Shape;632;p20"/>
                <p:cNvSpPr txBox="1"/>
                <p:nvPr/>
              </p:nvSpPr>
              <p:spPr>
                <a:xfrm>
                  <a:off x="9043595" y="1778228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4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677" name="Google Shape;677;p20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678" name="Google Shape;678;p20"/>
              <p:cNvGrpSpPr/>
              <p:nvPr/>
            </p:nvGrpSpPr>
            <p:grpSpPr>
              <a:xfrm>
                <a:off x="9949189" y="3834058"/>
                <a:ext cx="261610" cy="246221"/>
                <a:chOff x="10899930" y="2098636"/>
                <a:chExt cx="993465" cy="246221"/>
              </a:xfrm>
            </p:grpSpPr>
            <p:sp>
              <p:nvSpPr>
                <p:cNvPr id="679" name="Google Shape;679;p20"/>
                <p:cNvSpPr txBox="1"/>
                <p:nvPr/>
              </p:nvSpPr>
              <p:spPr>
                <a:xfrm>
                  <a:off x="10899930" y="2098636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680" name="Google Shape;680;p20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643" name="Google Shape;643;p20"/>
            <p:cNvSpPr/>
            <p:nvPr/>
          </p:nvSpPr>
          <p:spPr>
            <a:xfrm>
              <a:off x="9195736" y="6005473"/>
              <a:ext cx="689181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1" name="Google Shape;641;p20"/>
            <p:cNvSpPr txBox="1"/>
            <p:nvPr/>
          </p:nvSpPr>
          <p:spPr>
            <a:xfrm>
              <a:off x="9409522" y="5641119"/>
              <a:ext cx="26161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681" name="Google Shape;681;p20"/>
            <p:cNvCxnSpPr/>
            <p:nvPr/>
          </p:nvCxnSpPr>
          <p:spPr>
            <a:xfrm>
              <a:off x="9195736" y="5889187"/>
              <a:ext cx="68918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682" name="Google Shape;682;p20"/>
            <p:cNvGrpSpPr/>
            <p:nvPr/>
          </p:nvGrpSpPr>
          <p:grpSpPr>
            <a:xfrm>
              <a:off x="9949189" y="5967037"/>
              <a:ext cx="261610" cy="246221"/>
              <a:chOff x="10899930" y="2098636"/>
              <a:chExt cx="993465" cy="246221"/>
            </a:xfrm>
          </p:grpSpPr>
          <p:sp>
            <p:nvSpPr>
              <p:cNvPr id="683" name="Google Shape;683;p20"/>
              <p:cNvSpPr txBox="1"/>
              <p:nvPr/>
            </p:nvSpPr>
            <p:spPr>
              <a:xfrm>
                <a:off x="10899930" y="2098636"/>
                <a:ext cx="99346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684" name="Google Shape;684;p20"/>
              <p:cNvCxnSpPr/>
              <p:nvPr/>
            </p:nvCxnSpPr>
            <p:spPr>
              <a:xfrm>
                <a:off x="10942039" y="2125667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685" name="Google Shape;685;p20"/>
            <p:cNvSpPr/>
            <p:nvPr/>
          </p:nvSpPr>
          <p:spPr>
            <a:xfrm>
              <a:off x="4995959" y="6005473"/>
              <a:ext cx="2617168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7" name="Google Shape;647;p20"/>
            <p:cNvSpPr txBox="1"/>
            <p:nvPr/>
          </p:nvSpPr>
          <p:spPr>
            <a:xfrm>
              <a:off x="5544985" y="5652053"/>
              <a:ext cx="88998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784 (=28*28)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686" name="Google Shape;686;p20"/>
            <p:cNvCxnSpPr/>
            <p:nvPr/>
          </p:nvCxnSpPr>
          <p:spPr>
            <a:xfrm>
              <a:off x="4995959" y="5900121"/>
              <a:ext cx="26171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687" name="Google Shape;687;p20"/>
            <p:cNvGrpSpPr/>
            <p:nvPr/>
          </p:nvGrpSpPr>
          <p:grpSpPr>
            <a:xfrm>
              <a:off x="7641492" y="5967037"/>
              <a:ext cx="213520" cy="238527"/>
              <a:chOff x="7674150" y="5967037"/>
              <a:chExt cx="213520" cy="238527"/>
            </a:xfrm>
          </p:grpSpPr>
          <p:sp>
            <p:nvSpPr>
              <p:cNvPr id="644" name="Google Shape;644;p20"/>
              <p:cNvSpPr txBox="1"/>
              <p:nvPr/>
            </p:nvSpPr>
            <p:spPr>
              <a:xfrm>
                <a:off x="7674150" y="5967037"/>
                <a:ext cx="213520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688" name="Google Shape;688;p20"/>
              <p:cNvCxnSpPr/>
              <p:nvPr/>
            </p:nvCxnSpPr>
            <p:spPr>
              <a:xfrm>
                <a:off x="7706256" y="5999492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689" name="Google Shape;689;p20"/>
          <p:cNvSpPr/>
          <p:nvPr/>
        </p:nvSpPr>
        <p:spPr>
          <a:xfrm>
            <a:off x="4866416" y="3818377"/>
            <a:ext cx="6854529" cy="264335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690" name="Google Shape;690;p20"/>
          <p:cNvGrpSpPr/>
          <p:nvPr/>
        </p:nvGrpSpPr>
        <p:grpSpPr>
          <a:xfrm>
            <a:off x="350043" y="1401653"/>
            <a:ext cx="11491914" cy="5100900"/>
            <a:chOff x="400049" y="1826195"/>
            <a:chExt cx="11491914" cy="5100900"/>
          </a:xfrm>
        </p:grpSpPr>
        <p:sp>
          <p:nvSpPr>
            <p:cNvPr id="691" name="Google Shape;691;p20"/>
            <p:cNvSpPr/>
            <p:nvPr/>
          </p:nvSpPr>
          <p:spPr>
            <a:xfrm>
              <a:off x="400049" y="1826195"/>
              <a:ext cx="11491914" cy="5100900"/>
            </a:xfrm>
            <a:prstGeom prst="rect">
              <a:avLst/>
            </a:prstGeom>
            <a:solidFill>
              <a:schemeClr val="dk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92" name="Google Shape;692;p20"/>
            <p:cNvSpPr txBox="1"/>
            <p:nvPr/>
          </p:nvSpPr>
          <p:spPr>
            <a:xfrm>
              <a:off x="641992" y="2176043"/>
              <a:ext cx="11008028" cy="4401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Noto Sans KR"/>
                <a:buNone/>
              </a:pPr>
              <a:r>
                <a:rPr b="1" i="0" lang="ko-KR" sz="18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QuGAN 생성 (QuGAN Generation)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 Quantum Computer Output (4차원 데이터)</a:t>
              </a:r>
              <a:endParaRPr/>
            </a:p>
            <a:p>
              <a:pPr indent="-2413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algun Gothic"/>
                <a:buNone/>
              </a:pPr>
              <a:r>
                <a:t/>
              </a:r>
              <a:endParaRPr b="1" i="0" sz="16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양자 컴퓨터에서 나온 4차원 데이터로, QuGAN의 양자 생성자가 학습된 파라미터를 기반으로 생성된 결과물</a:t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4차원 데이터는 이미지의 특징을 양자 상태로 압축한 값을 확률이나 다른 양자 측정값의 형태로 표현한 것</a:t>
              </a:r>
              <a:endParaRPr b="1"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 Inverse PCA (역 PCA 변환)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6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양자 생성자가 만든 4차원 데이터를 원래의 784차원(28x28 픽셀) 이미지 공간으로 역변환하는 과정</a:t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역스케일링 (Descaling): 양자 회로에 입력하기 위해 [0, 1] 범위로 정규화 (Min-max scaling)했던 데이터를 원래의 스케일로 되돌림</a:t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 역변환 (Inverse PCA Transformation): 차원 축소에 사용했던 PCA 모델을 사용하여 4차원의 PCA 컴포넌트를 원래의 784차원 픽셀 공간으로 되</a:t>
              </a:r>
              <a:r>
                <a:rPr lang="ko-KR" sz="14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돌림</a:t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968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Noto Sans KR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 생성된 이미지 (Generated Image)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1차원 픽셀 배열을 원래의 2차원(28x28) 이미지 형태로 재구성하는 단계</a:t>
              </a:r>
              <a:endParaRPr/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최종적으로 복원되고 재구성된 28x28 픽셀 이미지로 양자 생성자가 학습을 통해 만들어낸 결과물이며, 실제 데이터셋의 이미지와 비교 대상이 </a:t>
              </a:r>
              <a:r>
                <a:rPr lang="ko-KR" sz="14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됨</a:t>
              </a:r>
              <a:endParaRPr b="1"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1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Data Comparison</a:t>
            </a:r>
            <a:endParaRPr/>
          </a:p>
        </p:txBody>
      </p:sp>
      <p:sp>
        <p:nvSpPr>
          <p:cNvPr id="698" name="Google Shape;698;p21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699" name="Google Shape;699;p21"/>
          <p:cNvGrpSpPr/>
          <p:nvPr/>
        </p:nvGrpSpPr>
        <p:grpSpPr>
          <a:xfrm>
            <a:off x="625709" y="1417829"/>
            <a:ext cx="10955010" cy="4952647"/>
            <a:chOff x="453937" y="1331024"/>
            <a:chExt cx="10955010" cy="4952648"/>
          </a:xfrm>
        </p:grpSpPr>
        <p:grpSp>
          <p:nvGrpSpPr>
            <p:cNvPr id="700" name="Google Shape;700;p21"/>
            <p:cNvGrpSpPr/>
            <p:nvPr/>
          </p:nvGrpSpPr>
          <p:grpSpPr>
            <a:xfrm>
              <a:off x="453937" y="1953734"/>
              <a:ext cx="1820975" cy="1443901"/>
              <a:chOff x="453937" y="1953734"/>
              <a:chExt cx="1820975" cy="1443901"/>
            </a:xfrm>
          </p:grpSpPr>
          <p:pic>
            <p:nvPicPr>
              <p:cNvPr id="701" name="Google Shape;701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3937" y="1953734"/>
                <a:ext cx="1820975" cy="1089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2" name="Google Shape;702;p21"/>
              <p:cNvSpPr txBox="1"/>
              <p:nvPr/>
            </p:nvSpPr>
            <p:spPr>
              <a:xfrm>
                <a:off x="846494" y="3151414"/>
                <a:ext cx="10358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00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Mnist Dataset</a:t>
                </a:r>
                <a:endParaRPr b="1" sz="10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703" name="Google Shape;703;p21"/>
            <p:cNvGrpSpPr/>
            <p:nvPr/>
          </p:nvGrpSpPr>
          <p:grpSpPr>
            <a:xfrm>
              <a:off x="2529049" y="1442726"/>
              <a:ext cx="811441" cy="1158008"/>
              <a:chOff x="2529049" y="1442726"/>
              <a:chExt cx="811441" cy="1158008"/>
            </a:xfrm>
          </p:grpSpPr>
          <p:pic>
            <p:nvPicPr>
              <p:cNvPr descr="Dataset Icons - Free SVG &amp; PNG Dataset Images - Noun Project" id="704" name="Google Shape;704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67539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5" name="Google Shape;705;p21"/>
              <p:cNvSpPr txBox="1"/>
              <p:nvPr/>
            </p:nvSpPr>
            <p:spPr>
              <a:xfrm>
                <a:off x="2529049" y="2216013"/>
                <a:ext cx="81144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Train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60,000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706" name="Google Shape;706;p21"/>
            <p:cNvGrpSpPr/>
            <p:nvPr/>
          </p:nvGrpSpPr>
          <p:grpSpPr>
            <a:xfrm>
              <a:off x="2567539" y="2845009"/>
              <a:ext cx="734459" cy="1143372"/>
              <a:chOff x="2567539" y="2886929"/>
              <a:chExt cx="734459" cy="1143372"/>
            </a:xfrm>
          </p:grpSpPr>
          <p:pic>
            <p:nvPicPr>
              <p:cNvPr descr="Dataset Icons - Free SVG &amp; PNG Dataset Images - Noun Project" id="707" name="Google Shape;707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567539" y="2886929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8" name="Google Shape;708;p21"/>
              <p:cNvSpPr txBox="1"/>
              <p:nvPr/>
            </p:nvSpPr>
            <p:spPr>
              <a:xfrm>
                <a:off x="2569125" y="3645580"/>
                <a:ext cx="731290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Test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cxnSp>
          <p:nvCxnSpPr>
            <p:cNvPr id="709" name="Google Shape;709;p21"/>
            <p:cNvCxnSpPr>
              <a:stCxn id="704" idx="3"/>
              <a:endCxn id="710" idx="1"/>
            </p:cNvCxnSpPr>
            <p:nvPr/>
          </p:nvCxnSpPr>
          <p:spPr>
            <a:xfrm>
              <a:off x="3301998" y="1809956"/>
              <a:ext cx="65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711" name="Google Shape;711;p21"/>
            <p:cNvGrpSpPr/>
            <p:nvPr/>
          </p:nvGrpSpPr>
          <p:grpSpPr>
            <a:xfrm>
              <a:off x="3850799" y="1442726"/>
              <a:ext cx="939681" cy="1158008"/>
              <a:chOff x="3850799" y="1442726"/>
              <a:chExt cx="939681" cy="1158008"/>
            </a:xfrm>
          </p:grpSpPr>
          <p:pic>
            <p:nvPicPr>
              <p:cNvPr descr="Dataset Icons - Free SVG &amp; PNG Dataset Images - Noun Project" id="710" name="Google Shape;710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53410" y="1442726"/>
                <a:ext cx="734459" cy="7344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2" name="Google Shape;712;p21"/>
              <p:cNvSpPr txBox="1"/>
              <p:nvPr/>
            </p:nvSpPr>
            <p:spPr>
              <a:xfrm>
                <a:off x="3850799" y="2216013"/>
                <a:ext cx="939681" cy="38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Sample Data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10,000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sp>
          <p:nvSpPr>
            <p:cNvPr id="713" name="Google Shape;713;p21"/>
            <p:cNvSpPr txBox="1"/>
            <p:nvPr/>
          </p:nvSpPr>
          <p:spPr>
            <a:xfrm>
              <a:off x="3232187" y="1442726"/>
              <a:ext cx="724878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Sampling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714" name="Google Shape;714;p21"/>
            <p:cNvCxnSpPr>
              <a:stCxn id="715" idx="3"/>
              <a:endCxn id="716" idx="1"/>
            </p:cNvCxnSpPr>
            <p:nvPr/>
          </p:nvCxnSpPr>
          <p:spPr>
            <a:xfrm>
              <a:off x="6544912" y="2211453"/>
              <a:ext cx="1686900" cy="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7" name="Google Shape;717;p21"/>
            <p:cNvSpPr txBox="1"/>
            <p:nvPr/>
          </p:nvSpPr>
          <p:spPr>
            <a:xfrm>
              <a:off x="6911851" y="1938658"/>
              <a:ext cx="76174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1D Flatten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718" name="Google Shape;718;p21"/>
            <p:cNvGrpSpPr/>
            <p:nvPr/>
          </p:nvGrpSpPr>
          <p:grpSpPr>
            <a:xfrm>
              <a:off x="8231742" y="1778228"/>
              <a:ext cx="2971908" cy="566629"/>
              <a:chOff x="8231742" y="1778228"/>
              <a:chExt cx="2971908" cy="566629"/>
            </a:xfrm>
          </p:grpSpPr>
          <p:grpSp>
            <p:nvGrpSpPr>
              <p:cNvPr id="719" name="Google Shape;719;p21"/>
              <p:cNvGrpSpPr/>
              <p:nvPr/>
            </p:nvGrpSpPr>
            <p:grpSpPr>
              <a:xfrm>
                <a:off x="8231742" y="1778228"/>
                <a:ext cx="2617168" cy="521391"/>
                <a:chOff x="8231742" y="1778228"/>
                <a:chExt cx="2617168" cy="521391"/>
              </a:xfrm>
            </p:grpSpPr>
            <p:sp>
              <p:nvSpPr>
                <p:cNvPr id="716" name="Google Shape;716;p21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720" name="Google Shape;720;p21"/>
                <p:cNvSpPr txBox="1"/>
                <p:nvPr/>
              </p:nvSpPr>
              <p:spPr>
                <a:xfrm>
                  <a:off x="9095333" y="1778228"/>
                  <a:ext cx="889987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784 (=28*28)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721" name="Google Shape;721;p21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722" name="Google Shape;722;p21"/>
              <p:cNvGrpSpPr/>
              <p:nvPr/>
            </p:nvGrpSpPr>
            <p:grpSpPr>
              <a:xfrm>
                <a:off x="10942039" y="2098636"/>
                <a:ext cx="261611" cy="246221"/>
                <a:chOff x="10942039" y="2098636"/>
                <a:chExt cx="261611" cy="246221"/>
              </a:xfrm>
            </p:grpSpPr>
            <p:sp>
              <p:nvSpPr>
                <p:cNvPr id="723" name="Google Shape;723;p21"/>
                <p:cNvSpPr txBox="1"/>
                <p:nvPr/>
              </p:nvSpPr>
              <p:spPr>
                <a:xfrm>
                  <a:off x="10942040" y="2098636"/>
                  <a:ext cx="26161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724" name="Google Shape;724;p21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cxnSp>
          <p:nvCxnSpPr>
            <p:cNvPr id="725" name="Google Shape;725;p21"/>
            <p:cNvCxnSpPr/>
            <p:nvPr/>
          </p:nvCxnSpPr>
          <p:spPr>
            <a:xfrm>
              <a:off x="9540326" y="2299619"/>
              <a:ext cx="0" cy="4887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26" name="Google Shape;726;p21"/>
            <p:cNvSpPr txBox="1"/>
            <p:nvPr/>
          </p:nvSpPr>
          <p:spPr>
            <a:xfrm>
              <a:off x="9611335" y="2420888"/>
              <a:ext cx="1330814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/255 *Normalization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727" name="Google Shape;727;p21"/>
            <p:cNvCxnSpPr>
              <a:stCxn id="728" idx="2"/>
              <a:endCxn id="729" idx="0"/>
            </p:cNvCxnSpPr>
            <p:nvPr/>
          </p:nvCxnSpPr>
          <p:spPr>
            <a:xfrm>
              <a:off x="9540327" y="3217852"/>
              <a:ext cx="0" cy="29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30" name="Google Shape;730;p21"/>
            <p:cNvSpPr txBox="1"/>
            <p:nvPr/>
          </p:nvSpPr>
          <p:spPr>
            <a:xfrm>
              <a:off x="9701428" y="3254193"/>
              <a:ext cx="1707519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 (Downscale : 784 → 4)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Min-Max Scaling [0,1]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731" name="Google Shape;73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20699" y="3598229"/>
              <a:ext cx="706964" cy="533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2" name="Google Shape;732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28187" y="4101255"/>
              <a:ext cx="493355" cy="522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3" name="Google Shape;733;p21"/>
            <p:cNvCxnSpPr/>
            <p:nvPr/>
          </p:nvCxnSpPr>
          <p:spPr>
            <a:xfrm>
              <a:off x="9539281" y="4034956"/>
              <a:ext cx="1045" cy="6525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34" name="Google Shape;734;p21"/>
            <p:cNvSpPr txBox="1"/>
            <p:nvPr/>
          </p:nvSpPr>
          <p:spPr>
            <a:xfrm>
              <a:off x="9600114" y="4238129"/>
              <a:ext cx="1056701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Qubit encoding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Quantum-Computing Icons - Free SVG &amp; PNG Quantum-Computing Images - Noun  Project" id="735" name="Google Shape;735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06481" y="4687523"/>
              <a:ext cx="667690" cy="66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21"/>
            <p:cNvSpPr txBox="1"/>
            <p:nvPr/>
          </p:nvSpPr>
          <p:spPr>
            <a:xfrm>
              <a:off x="9856611" y="4895028"/>
              <a:ext cx="138531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Quantum Computing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737" name="Google Shape;737;p21"/>
            <p:cNvCxnSpPr>
              <a:endCxn id="738" idx="0"/>
            </p:cNvCxnSpPr>
            <p:nvPr/>
          </p:nvCxnSpPr>
          <p:spPr>
            <a:xfrm>
              <a:off x="9540327" y="5442819"/>
              <a:ext cx="0" cy="19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39" name="Google Shape;739;p21"/>
            <p:cNvCxnSpPr>
              <a:stCxn id="740" idx="1"/>
              <a:endCxn id="741" idx="3"/>
            </p:cNvCxnSpPr>
            <p:nvPr/>
          </p:nvCxnSpPr>
          <p:spPr>
            <a:xfrm rot="10800000">
              <a:off x="7855036" y="6086248"/>
              <a:ext cx="13407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42" name="Google Shape;742;p21"/>
            <p:cNvSpPr txBox="1"/>
            <p:nvPr/>
          </p:nvSpPr>
          <p:spPr>
            <a:xfrm>
              <a:off x="7885209" y="5898951"/>
              <a:ext cx="1314651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Inverse PCA 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(Upscale : 4 → 784)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743" name="Google Shape;743;p21"/>
            <p:cNvCxnSpPr>
              <a:stCxn id="744" idx="0"/>
              <a:endCxn id="745" idx="2"/>
            </p:cNvCxnSpPr>
            <p:nvPr/>
          </p:nvCxnSpPr>
          <p:spPr>
            <a:xfrm rot="10800000">
              <a:off x="5989979" y="5127653"/>
              <a:ext cx="0" cy="52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46" name="Google Shape;746;p21"/>
            <p:cNvSpPr txBox="1"/>
            <p:nvPr/>
          </p:nvSpPr>
          <p:spPr>
            <a:xfrm>
              <a:off x="6050750" y="5212610"/>
              <a:ext cx="670376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Reshape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747" name="Google Shape;747;p21"/>
            <p:cNvCxnSpPr>
              <a:stCxn id="748" idx="2"/>
              <a:endCxn id="749" idx="0"/>
            </p:cNvCxnSpPr>
            <p:nvPr/>
          </p:nvCxnSpPr>
          <p:spPr>
            <a:xfrm flipH="1">
              <a:off x="5966628" y="2774926"/>
              <a:ext cx="7500" cy="95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50" name="Google Shape;750;p21"/>
            <p:cNvSpPr txBox="1"/>
            <p:nvPr/>
          </p:nvSpPr>
          <p:spPr>
            <a:xfrm>
              <a:off x="5931002" y="3134192"/>
              <a:ext cx="705642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Compare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751" name="Google Shape;751;p21"/>
            <p:cNvGrpSpPr/>
            <p:nvPr/>
          </p:nvGrpSpPr>
          <p:grpSpPr>
            <a:xfrm>
              <a:off x="4932453" y="1331024"/>
              <a:ext cx="1612459" cy="1443902"/>
              <a:chOff x="4932453" y="1331024"/>
              <a:chExt cx="1612459" cy="1443902"/>
            </a:xfrm>
          </p:grpSpPr>
          <p:grpSp>
            <p:nvGrpSpPr>
              <p:cNvPr id="752" name="Google Shape;752;p21"/>
              <p:cNvGrpSpPr/>
              <p:nvPr/>
            </p:nvGrpSpPr>
            <p:grpSpPr>
              <a:xfrm>
                <a:off x="4932453" y="1686459"/>
                <a:ext cx="412292" cy="1006222"/>
                <a:chOff x="4932453" y="1671455"/>
                <a:chExt cx="412292" cy="1006222"/>
              </a:xfrm>
            </p:grpSpPr>
            <p:sp>
              <p:nvSpPr>
                <p:cNvPr id="753" name="Google Shape;753;p21"/>
                <p:cNvSpPr txBox="1"/>
                <p:nvPr/>
              </p:nvSpPr>
              <p:spPr>
                <a:xfrm>
                  <a:off x="4932453" y="2051456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754" name="Google Shape;754;p21"/>
                <p:cNvCxnSpPr/>
                <p:nvPr/>
              </p:nvCxnSpPr>
              <p:spPr>
                <a:xfrm>
                  <a:off x="5285327" y="1671455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755" name="Google Shape;755;p21"/>
              <p:cNvGrpSpPr/>
              <p:nvPr/>
            </p:nvGrpSpPr>
            <p:grpSpPr>
              <a:xfrm>
                <a:off x="5366083" y="1331024"/>
                <a:ext cx="1178829" cy="1443902"/>
                <a:chOff x="5366083" y="1331024"/>
                <a:chExt cx="1178829" cy="1443902"/>
              </a:xfrm>
            </p:grpSpPr>
            <p:grpSp>
              <p:nvGrpSpPr>
                <p:cNvPr id="756" name="Google Shape;756;p21"/>
                <p:cNvGrpSpPr/>
                <p:nvPr/>
              </p:nvGrpSpPr>
              <p:grpSpPr>
                <a:xfrm>
                  <a:off x="5458875" y="1331024"/>
                  <a:ext cx="1030504" cy="1443902"/>
                  <a:chOff x="5455875" y="1331024"/>
                  <a:chExt cx="1030504" cy="1443902"/>
                </a:xfrm>
              </p:grpSpPr>
              <p:sp>
                <p:nvSpPr>
                  <p:cNvPr id="757" name="Google Shape;757;p21"/>
                  <p:cNvSpPr txBox="1"/>
                  <p:nvPr/>
                </p:nvSpPr>
                <p:spPr>
                  <a:xfrm>
                    <a:off x="5764982" y="1331024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cxnSp>
                <p:nvCxnSpPr>
                  <p:cNvPr id="758" name="Google Shape;758;p21"/>
                  <p:cNvCxnSpPr/>
                  <p:nvPr/>
                </p:nvCxnSpPr>
                <p:spPr>
                  <a:xfrm>
                    <a:off x="5455875" y="1553839"/>
                    <a:ext cx="1030504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triangle"/>
                    <a:tailEnd len="med" w="med" type="triangle"/>
                  </a:ln>
                </p:spPr>
              </p:cxnSp>
              <p:sp>
                <p:nvSpPr>
                  <p:cNvPr id="748" name="Google Shape;748;p21"/>
                  <p:cNvSpPr txBox="1"/>
                  <p:nvPr/>
                </p:nvSpPr>
                <p:spPr>
                  <a:xfrm>
                    <a:off x="5764982" y="2536399"/>
                    <a:ext cx="412292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95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28</a:t>
                    </a:r>
                    <a:endParaRPr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  <p:grpSp>
              <p:nvGrpSpPr>
                <p:cNvPr id="759" name="Google Shape;759;p21"/>
                <p:cNvGrpSpPr/>
                <p:nvPr/>
              </p:nvGrpSpPr>
              <p:grpSpPr>
                <a:xfrm>
                  <a:off x="5366083" y="1627688"/>
                  <a:ext cx="1178829" cy="1123765"/>
                  <a:chOff x="5366083" y="1627688"/>
                  <a:chExt cx="1178829" cy="1123765"/>
                </a:xfrm>
              </p:grpSpPr>
              <p:pic>
                <p:nvPicPr>
                  <p:cNvPr id="715" name="Google Shape;715;p21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5464912" y="1671453"/>
                    <a:ext cx="1080000" cy="10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760" name="Google Shape;760;p21"/>
                  <p:cNvSpPr txBox="1"/>
                  <p:nvPr/>
                </p:nvSpPr>
                <p:spPr>
                  <a:xfrm>
                    <a:off x="5366083" y="1627688"/>
                    <a:ext cx="667170" cy="2385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1" lang="ko-KR" sz="9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Original</a:t>
                    </a:r>
                    <a:endParaRPr b="1" i="1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</p:grpSp>
        </p:grpSp>
        <p:grpSp>
          <p:nvGrpSpPr>
            <p:cNvPr id="761" name="Google Shape;761;p21"/>
            <p:cNvGrpSpPr/>
            <p:nvPr/>
          </p:nvGrpSpPr>
          <p:grpSpPr>
            <a:xfrm>
              <a:off x="4932453" y="3734354"/>
              <a:ext cx="1597527" cy="1393322"/>
              <a:chOff x="4932453" y="3734354"/>
              <a:chExt cx="1597527" cy="1393322"/>
            </a:xfrm>
          </p:grpSpPr>
          <p:grpSp>
            <p:nvGrpSpPr>
              <p:cNvPr id="762" name="Google Shape;762;p21"/>
              <p:cNvGrpSpPr/>
              <p:nvPr/>
            </p:nvGrpSpPr>
            <p:grpSpPr>
              <a:xfrm>
                <a:off x="4932453" y="4082219"/>
                <a:ext cx="412292" cy="1006222"/>
                <a:chOff x="4932453" y="4068764"/>
                <a:chExt cx="412292" cy="1006222"/>
              </a:xfrm>
            </p:grpSpPr>
            <p:sp>
              <p:nvSpPr>
                <p:cNvPr id="763" name="Google Shape;763;p21"/>
                <p:cNvSpPr txBox="1"/>
                <p:nvPr/>
              </p:nvSpPr>
              <p:spPr>
                <a:xfrm>
                  <a:off x="4932453" y="4448765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764" name="Google Shape;764;p21"/>
                <p:cNvCxnSpPr/>
                <p:nvPr/>
              </p:nvCxnSpPr>
              <p:spPr>
                <a:xfrm>
                  <a:off x="5285327" y="4068764"/>
                  <a:ext cx="0" cy="10062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765" name="Google Shape;765;p21"/>
              <p:cNvGrpSpPr/>
              <p:nvPr/>
            </p:nvGrpSpPr>
            <p:grpSpPr>
              <a:xfrm>
                <a:off x="5387595" y="4042985"/>
                <a:ext cx="1142385" cy="1084691"/>
                <a:chOff x="5387595" y="4042985"/>
                <a:chExt cx="1142385" cy="1084691"/>
              </a:xfrm>
            </p:grpSpPr>
            <p:pic>
              <p:nvPicPr>
                <p:cNvPr id="745" name="Google Shape;745;p21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5449980" y="4047676"/>
                  <a:ext cx="1080000" cy="1080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66" name="Google Shape;766;p21"/>
                <p:cNvSpPr txBox="1"/>
                <p:nvPr/>
              </p:nvSpPr>
              <p:spPr>
                <a:xfrm>
                  <a:off x="5387595" y="4042985"/>
                  <a:ext cx="816249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1" lang="ko-KR" sz="950">
                      <a:solidFill>
                        <a:schemeClr val="lt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Generated</a:t>
                  </a:r>
                  <a:endParaRPr b="1" i="1"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</p:grpSp>
          <p:grpSp>
            <p:nvGrpSpPr>
              <p:cNvPr id="767" name="Google Shape;767;p21"/>
              <p:cNvGrpSpPr/>
              <p:nvPr/>
            </p:nvGrpSpPr>
            <p:grpSpPr>
              <a:xfrm>
                <a:off x="5451409" y="3734354"/>
                <a:ext cx="1030504" cy="238527"/>
                <a:chOff x="5455875" y="1331024"/>
                <a:chExt cx="1030504" cy="238527"/>
              </a:xfrm>
            </p:grpSpPr>
            <p:sp>
              <p:nvSpPr>
                <p:cNvPr id="749" name="Google Shape;749;p21"/>
                <p:cNvSpPr txBox="1"/>
                <p:nvPr/>
              </p:nvSpPr>
              <p:spPr>
                <a:xfrm>
                  <a:off x="5764982" y="1331024"/>
                  <a:ext cx="412292" cy="2385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28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768" name="Google Shape;768;p21"/>
                <p:cNvCxnSpPr/>
                <p:nvPr/>
              </p:nvCxnSpPr>
              <p:spPr>
                <a:xfrm>
                  <a:off x="5455875" y="1553839"/>
                  <a:ext cx="1030504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769" name="Google Shape;769;p21"/>
            <p:cNvGrpSpPr/>
            <p:nvPr/>
          </p:nvGrpSpPr>
          <p:grpSpPr>
            <a:xfrm>
              <a:off x="8231742" y="2788378"/>
              <a:ext cx="2617168" cy="429474"/>
              <a:chOff x="8231742" y="2788378"/>
              <a:chExt cx="2617168" cy="429474"/>
            </a:xfrm>
          </p:grpSpPr>
          <p:sp>
            <p:nvSpPr>
              <p:cNvPr id="728" name="Google Shape;728;p21"/>
              <p:cNvSpPr txBox="1"/>
              <p:nvPr/>
            </p:nvSpPr>
            <p:spPr>
              <a:xfrm>
                <a:off x="8768321" y="2979325"/>
                <a:ext cx="1544012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Data distribution = [0, 1]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770" name="Google Shape;770;p21"/>
              <p:cNvSpPr/>
              <p:nvPr/>
            </p:nvSpPr>
            <p:spPr>
              <a:xfrm>
                <a:off x="8231742" y="2788378"/>
                <a:ext cx="2617168" cy="169349"/>
              </a:xfrm>
              <a:prstGeom prst="rect">
                <a:avLst/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5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771" name="Google Shape;771;p21"/>
            <p:cNvGrpSpPr/>
            <p:nvPr/>
          </p:nvGrpSpPr>
          <p:grpSpPr>
            <a:xfrm>
              <a:off x="9195736" y="3513565"/>
              <a:ext cx="1015063" cy="566714"/>
              <a:chOff x="9195736" y="3513565"/>
              <a:chExt cx="1015063" cy="566714"/>
            </a:xfrm>
          </p:grpSpPr>
          <p:grpSp>
            <p:nvGrpSpPr>
              <p:cNvPr id="772" name="Google Shape;772;p21"/>
              <p:cNvGrpSpPr/>
              <p:nvPr/>
            </p:nvGrpSpPr>
            <p:grpSpPr>
              <a:xfrm>
                <a:off x="9195736" y="3513565"/>
                <a:ext cx="689181" cy="521391"/>
                <a:chOff x="8231742" y="1778228"/>
                <a:chExt cx="2617168" cy="521391"/>
              </a:xfrm>
            </p:grpSpPr>
            <p:sp>
              <p:nvSpPr>
                <p:cNvPr id="773" name="Google Shape;773;p21"/>
                <p:cNvSpPr/>
                <p:nvPr/>
              </p:nvSpPr>
              <p:spPr>
                <a:xfrm>
                  <a:off x="8231742" y="2130270"/>
                  <a:ext cx="2617168" cy="169349"/>
                </a:xfrm>
                <a:prstGeom prst="rect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50">
                    <a:solidFill>
                      <a:schemeClr val="lt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sp>
              <p:nvSpPr>
                <p:cNvPr id="729" name="Google Shape;729;p21"/>
                <p:cNvSpPr txBox="1"/>
                <p:nvPr/>
              </p:nvSpPr>
              <p:spPr>
                <a:xfrm>
                  <a:off x="9043595" y="1778228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4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774" name="Google Shape;774;p21"/>
                <p:cNvCxnSpPr/>
                <p:nvPr/>
              </p:nvCxnSpPr>
              <p:spPr>
                <a:xfrm>
                  <a:off x="8231742" y="2026296"/>
                  <a:ext cx="26171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  <p:grpSp>
            <p:nvGrpSpPr>
              <p:cNvPr id="775" name="Google Shape;775;p21"/>
              <p:cNvGrpSpPr/>
              <p:nvPr/>
            </p:nvGrpSpPr>
            <p:grpSpPr>
              <a:xfrm>
                <a:off x="9949189" y="3834058"/>
                <a:ext cx="261610" cy="246221"/>
                <a:chOff x="10899930" y="2098636"/>
                <a:chExt cx="993465" cy="246221"/>
              </a:xfrm>
            </p:grpSpPr>
            <p:sp>
              <p:nvSpPr>
                <p:cNvPr id="776" name="Google Shape;776;p21"/>
                <p:cNvSpPr txBox="1"/>
                <p:nvPr/>
              </p:nvSpPr>
              <p:spPr>
                <a:xfrm>
                  <a:off x="10899930" y="2098636"/>
                  <a:ext cx="993465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950">
                      <a:solidFill>
                        <a:schemeClr val="dk1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rPr>
                    <a:t>1</a:t>
                  </a:r>
                  <a:endParaRPr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endParaRPr>
                </a:p>
              </p:txBody>
            </p:sp>
            <p:cxnSp>
              <p:nvCxnSpPr>
                <p:cNvPr id="777" name="Google Shape;777;p21"/>
                <p:cNvCxnSpPr/>
                <p:nvPr/>
              </p:nvCxnSpPr>
              <p:spPr>
                <a:xfrm>
                  <a:off x="10942039" y="2125667"/>
                  <a:ext cx="0" cy="1921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740" name="Google Shape;740;p21"/>
            <p:cNvSpPr/>
            <p:nvPr/>
          </p:nvSpPr>
          <p:spPr>
            <a:xfrm>
              <a:off x="9195736" y="6005473"/>
              <a:ext cx="689181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38" name="Google Shape;738;p21"/>
            <p:cNvSpPr txBox="1"/>
            <p:nvPr/>
          </p:nvSpPr>
          <p:spPr>
            <a:xfrm>
              <a:off x="9409522" y="5641119"/>
              <a:ext cx="26161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778" name="Google Shape;778;p21"/>
            <p:cNvCxnSpPr/>
            <p:nvPr/>
          </p:nvCxnSpPr>
          <p:spPr>
            <a:xfrm>
              <a:off x="9195736" y="5889187"/>
              <a:ext cx="68918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779" name="Google Shape;779;p21"/>
            <p:cNvGrpSpPr/>
            <p:nvPr/>
          </p:nvGrpSpPr>
          <p:grpSpPr>
            <a:xfrm>
              <a:off x="9949189" y="5967037"/>
              <a:ext cx="261610" cy="246221"/>
              <a:chOff x="10899930" y="2098636"/>
              <a:chExt cx="993465" cy="246221"/>
            </a:xfrm>
          </p:grpSpPr>
          <p:sp>
            <p:nvSpPr>
              <p:cNvPr id="780" name="Google Shape;780;p21"/>
              <p:cNvSpPr txBox="1"/>
              <p:nvPr/>
            </p:nvSpPr>
            <p:spPr>
              <a:xfrm>
                <a:off x="10899930" y="2098636"/>
                <a:ext cx="99346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781" name="Google Shape;781;p21"/>
              <p:cNvCxnSpPr/>
              <p:nvPr/>
            </p:nvCxnSpPr>
            <p:spPr>
              <a:xfrm>
                <a:off x="10942039" y="2125667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782" name="Google Shape;782;p21"/>
            <p:cNvSpPr/>
            <p:nvPr/>
          </p:nvSpPr>
          <p:spPr>
            <a:xfrm>
              <a:off x="4995959" y="6005473"/>
              <a:ext cx="2617168" cy="169349"/>
            </a:xfrm>
            <a:prstGeom prst="rect">
              <a:avLst/>
            </a:prstGeom>
            <a:solidFill>
              <a:srgbClr val="EF7D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44" name="Google Shape;744;p21"/>
            <p:cNvSpPr txBox="1"/>
            <p:nvPr/>
          </p:nvSpPr>
          <p:spPr>
            <a:xfrm>
              <a:off x="5544985" y="5652053"/>
              <a:ext cx="889987" cy="23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784 (=28*28)</a:t>
              </a:r>
              <a:endParaRPr sz="9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783" name="Google Shape;783;p21"/>
            <p:cNvCxnSpPr/>
            <p:nvPr/>
          </p:nvCxnSpPr>
          <p:spPr>
            <a:xfrm>
              <a:off x="4995959" y="5900121"/>
              <a:ext cx="26171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784" name="Google Shape;784;p21"/>
            <p:cNvGrpSpPr/>
            <p:nvPr/>
          </p:nvGrpSpPr>
          <p:grpSpPr>
            <a:xfrm>
              <a:off x="7641492" y="5967037"/>
              <a:ext cx="213520" cy="238527"/>
              <a:chOff x="7674150" y="5967037"/>
              <a:chExt cx="213520" cy="238527"/>
            </a:xfrm>
          </p:grpSpPr>
          <p:sp>
            <p:nvSpPr>
              <p:cNvPr id="741" name="Google Shape;741;p21"/>
              <p:cNvSpPr txBox="1"/>
              <p:nvPr/>
            </p:nvSpPr>
            <p:spPr>
              <a:xfrm>
                <a:off x="7674150" y="5967037"/>
                <a:ext cx="213520" cy="23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50">
                    <a:solidFill>
                      <a:schemeClr val="dk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</a:t>
                </a:r>
                <a:endParaRPr sz="95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785" name="Google Shape;785;p21"/>
              <p:cNvCxnSpPr/>
              <p:nvPr/>
            </p:nvCxnSpPr>
            <p:spPr>
              <a:xfrm>
                <a:off x="7706256" y="5999492"/>
                <a:ext cx="0" cy="1921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786" name="Google Shape;786;p21"/>
          <p:cNvSpPr/>
          <p:nvPr/>
        </p:nvSpPr>
        <p:spPr>
          <a:xfrm>
            <a:off x="5179585" y="1320060"/>
            <a:ext cx="1966342" cy="421788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787" name="Google Shape;787;p21"/>
          <p:cNvGrpSpPr/>
          <p:nvPr/>
        </p:nvGrpSpPr>
        <p:grpSpPr>
          <a:xfrm>
            <a:off x="350043" y="1401653"/>
            <a:ext cx="4305709" cy="3308781"/>
            <a:chOff x="400049" y="1826195"/>
            <a:chExt cx="11491915" cy="3308781"/>
          </a:xfrm>
        </p:grpSpPr>
        <p:sp>
          <p:nvSpPr>
            <p:cNvPr id="788" name="Google Shape;788;p21"/>
            <p:cNvSpPr/>
            <p:nvPr/>
          </p:nvSpPr>
          <p:spPr>
            <a:xfrm>
              <a:off x="400049" y="1826195"/>
              <a:ext cx="11491915" cy="3308781"/>
            </a:xfrm>
            <a:prstGeom prst="rect">
              <a:avLst/>
            </a:prstGeom>
            <a:solidFill>
              <a:schemeClr val="dk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89" name="Google Shape;789;p21"/>
            <p:cNvSpPr txBox="1"/>
            <p:nvPr/>
          </p:nvSpPr>
          <p:spPr>
            <a:xfrm>
              <a:off x="641993" y="2176043"/>
              <a:ext cx="11008028" cy="1231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Noto Sans KR"/>
                <a:buNone/>
              </a:pPr>
              <a:r>
                <a:rPr b="1" lang="ko-KR" sz="18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원본 vs 생성 데이터</a:t>
              </a:r>
              <a:br>
                <a:rPr b="1" i="0" lang="ko-KR" sz="18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endParaRPr b="1"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i="0" lang="ko-KR" sz="1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양자 생성자가 학습을 통해 만들어낸 결과물 28x28 픽셀 이미지와, 실제 데이터셋의 이미지와 비교하여 모델 훈련 및 성능 평가 </a:t>
              </a:r>
              <a:endParaRPr b="1" i="0" sz="1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2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Final Output 1-2</a:t>
            </a:r>
            <a:endParaRPr/>
          </a:p>
        </p:txBody>
      </p:sp>
      <p:sp>
        <p:nvSpPr>
          <p:cNvPr id="795" name="Google Shape;795;p22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96" name="Google Shape;7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482" y="1469402"/>
            <a:ext cx="7297034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3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Final Output 2-2</a:t>
            </a:r>
            <a:endParaRPr/>
          </a:p>
        </p:txBody>
      </p:sp>
      <p:sp>
        <p:nvSpPr>
          <p:cNvPr id="802" name="Google Shape;802;p23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03" name="Google Shape;8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414" y="2114473"/>
            <a:ext cx="10193173" cy="3576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4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FFB"/>
              </a:buClr>
              <a:buSzPts val="4400"/>
              <a:buFont typeface="Noto Sans KR"/>
              <a:buNone/>
            </a:pPr>
            <a:r>
              <a:rPr lang="ko-KR" sz="4400">
                <a:solidFill>
                  <a:srgbClr val="FBFFFB"/>
                </a:solidFill>
              </a:rPr>
              <a:t>E.O.D.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5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FFB"/>
              </a:buClr>
              <a:buSzPts val="3200"/>
              <a:buFont typeface="Noto Sans KR"/>
              <a:buNone/>
            </a:pPr>
            <a:r>
              <a:rPr lang="ko-KR">
                <a:solidFill>
                  <a:srgbClr val="FBFFFB"/>
                </a:solidFill>
              </a:rPr>
              <a:t>Appendix. GAN Details</a:t>
            </a:r>
            <a:endParaRPr sz="4400">
              <a:solidFill>
                <a:srgbClr val="FBFFF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6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QuGAN 연구 의미 – 양자 효율성 및 잠재력</a:t>
            </a:r>
            <a:endParaRPr/>
          </a:p>
        </p:txBody>
      </p:sp>
      <p:sp>
        <p:nvSpPr>
          <p:cNvPr id="819" name="Google Shape;819;p26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20" name="Google Shape;820;p26"/>
          <p:cNvSpPr/>
          <p:nvPr/>
        </p:nvSpPr>
        <p:spPr>
          <a:xfrm>
            <a:off x="5489700" y="2339877"/>
            <a:ext cx="5902488" cy="280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■ 파라미터 규모 효율성</a:t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KR"/>
              <a:buNone/>
            </a:pPr>
            <a:r>
              <a:rPr b="0" i="0" lang="ko-KR" sz="160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고전적 GAN(C-GAN)이 </a:t>
            </a:r>
            <a:r>
              <a:rPr b="1" i="0" lang="ko-KR" sz="160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199개의 파라미터</a:t>
            </a:r>
            <a:r>
              <a:rPr b="0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사용하는 것에 대비하여, QuGAN은 </a:t>
            </a: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10개의 파라미터</a:t>
            </a:r>
            <a:r>
              <a:rPr b="0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만으로 파라미터 수를 </a:t>
            </a: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94.98% 감소</a:t>
            </a:r>
            <a:r>
              <a:rPr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하며 거의</a:t>
            </a:r>
            <a:r>
              <a:rPr b="0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동일한 성능을 달성함</a:t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■ 양자 시뮬레이션 결과 생성 가능</a:t>
            </a:r>
            <a:endParaRPr b="1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t/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KR"/>
              <a:buNone/>
            </a:pPr>
            <a:r>
              <a:rPr lang="ko-KR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물질의 양자 상태 (분자 접지 상태, 스핀 배열 등) 등 생성하고 싶은 경우, 고전 컴퓨터는 양자 상태를 표현하는 데 지수적 자원이 필요한 것에 비해</a:t>
            </a:r>
            <a:r>
              <a:rPr b="1" lang="ko-KR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, 양자 생성 모델은 선형적 자원만 필요로 함</a:t>
            </a:r>
            <a:endParaRPr b="1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21" name="Google Shape;8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936" y="2225027"/>
            <a:ext cx="4755292" cy="1944631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6"/>
          <p:cNvSpPr txBox="1"/>
          <p:nvPr/>
        </p:nvSpPr>
        <p:spPr>
          <a:xfrm>
            <a:off x="676678" y="6023555"/>
            <a:ext cx="889186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1) Hellinger Distance는 0에 가까울수록 두 분포 (정답, 생성 결과)가 유사함을 의미</a:t>
            </a:r>
            <a:endParaRPr/>
          </a:p>
        </p:txBody>
      </p:sp>
      <p:sp>
        <p:nvSpPr>
          <p:cNvPr id="823" name="Google Shape;823;p26"/>
          <p:cNvSpPr/>
          <p:nvPr/>
        </p:nvSpPr>
        <p:spPr>
          <a:xfrm>
            <a:off x="762200" y="2569029"/>
            <a:ext cx="4322993" cy="228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762200" y="3625961"/>
            <a:ext cx="4322993" cy="228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5" name="Google Shape;825;p26"/>
          <p:cNvSpPr txBox="1"/>
          <p:nvPr/>
        </p:nvSpPr>
        <p:spPr>
          <a:xfrm>
            <a:off x="3265714" y="2145470"/>
            <a:ext cx="3257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ko-KR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1)</a:t>
            </a:r>
            <a:endParaRPr baseline="30000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7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GAN vs QuGAN</a:t>
            </a:r>
            <a:endParaRPr/>
          </a:p>
        </p:txBody>
      </p:sp>
      <p:sp>
        <p:nvSpPr>
          <p:cNvPr id="831" name="Google Shape;831;p27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aphicFrame>
        <p:nvGraphicFramePr>
          <p:cNvPr id="832" name="Google Shape;832;p27"/>
          <p:cNvGraphicFramePr/>
          <p:nvPr/>
        </p:nvGraphicFramePr>
        <p:xfrm>
          <a:off x="433749" y="15697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{AF65A0ED-5185-4640-A2CB-283B91C1F4A9}</a:tableStyleId>
              </a:tblPr>
              <a:tblGrid>
                <a:gridCol w="1933425"/>
                <a:gridCol w="4568700"/>
                <a:gridCol w="48223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비교 기준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rgbClr val="1B1C1D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Classical GANs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rgbClr val="1B1C1D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QuGANs</a:t>
                      </a:r>
                      <a:endParaRPr b="1" sz="1400" u="none" cap="none" strike="noStrike">
                        <a:solidFill>
                          <a:srgbClr val="1B1C1D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40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핵심 구성 요소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생성자와 판별자가 신경망으로 구현됨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생성자와 판별자 모두 양자 상태 충실도(Quantum State Fidelity)를 기반으로 동작하도록 설계된 </a:t>
                      </a: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회로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 구현됨 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표현 방식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고전적 데이터(예: 이미지 픽셀)가 이진 비트 또는 실수 벡터로 표현됨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고전적 데이터가 정규화 및 변환되어 </a:t>
                      </a: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상태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 인코딩됨 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유사도/판별 메커니즘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주로 고전적 신경망의 분류를 통해 진짜/가짜를 판별함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스왑 테스트(Swap Test)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를 활용하여 두 양자 상태 간의 유사도(충실도)를 측정함으로써 판별을 수행함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기울기 계산 방식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주로 </a:t>
                      </a: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역전파 (Backpropagation)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알고리즘을 사용하여 파라미터의 기울기를 계산함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파라미터 이동 규칙(Parameter Shift Rule)</a:t>
                      </a:r>
                      <a:r>
                        <a:rPr b="1" baseline="30000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1)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을 포함한 양자 게이트 미분 방식을 사용하여 파라미터 기울기를 추정함 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파라미터 수 효율성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QuGAN과 유사한 성능을 위해 상대적으로 많은 수의 파라미터가 필요함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고전적 GAN과 유사한 성능을 달성하면서 파라미터 수를 </a:t>
                      </a: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9498% 감소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시킴 (예: QuGAN 10개 파라미터 vs C-GAN 199개 파라미터로 유사 성능 달성) 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수렴 안정성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훈련 시 수렴 실패 문제 및 모드 붕괴(mode collapse)를 흔히 겪는다고 알려져 있음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안정적인 수렴 경향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을 제공하며, 기존 양자 기반 GAN들(Qi-GAN, TFQ-GAN) 대비 향상된 안정성을 보임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다룰 수 있는 데이터 분포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특정 복잡한/고차원 데이터 분포 학습에 한계가 있을 수 있음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역학의 원리를 활용하여 고전적 GAN으로는 다루기 어려운 </a:t>
                      </a: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복잡하고 고차원적인 데이터 분포를 탐색하고 생성할 잠재력</a:t>
                      </a: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을 가짐 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생성 능력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주로 고전적 데이터(이미지, 텍스트 등)를 생성함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데이터를 직접 생성할 수 있는 고유한 능력을 가짐 생성자 출력은 자연스럽게 분포 형태로 나타남 </a:t>
                      </a:r>
                      <a:endParaRPr/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계산 비용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딥 신경망 관련하여 계산 복잡성이 계속 증가함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1B1C1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양자 이점을 통해 계산 복잡성 문제를 부분적으로 완화할 가능성이 있음. 단, 양자 시뮬레이션도 큐비트 수에 따라 비용이 증가함</a:t>
                      </a:r>
                      <a:endParaRPr sz="1200" u="none" cap="none" strike="noStrike">
                        <a:solidFill>
                          <a:srgbClr val="1B1C1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14875" marB="14875" marR="57875" marL="57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3" name="Google Shape;833;p27"/>
          <p:cNvSpPr txBox="1"/>
          <p:nvPr/>
        </p:nvSpPr>
        <p:spPr>
          <a:xfrm>
            <a:off x="433750" y="5965025"/>
            <a:ext cx="1054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1) 양의 방향으로 작은 값(π/2)만큼 이동시켜 실행하고, 다른 한 번은 음의 방향으로 같은 값만큼 이동시켜 실행합니다. 이 두 실행 결과의 차이를 통해 기울기를 근사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8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QuGAN 연구 성과</a:t>
            </a:r>
            <a:endParaRPr/>
          </a:p>
        </p:txBody>
      </p:sp>
      <p:sp>
        <p:nvSpPr>
          <p:cNvPr id="839" name="Google Shape;839;p28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40" name="Google Shape;840;p28"/>
          <p:cNvSpPr txBox="1"/>
          <p:nvPr/>
        </p:nvSpPr>
        <p:spPr>
          <a:xfrm>
            <a:off x="696282" y="1992653"/>
            <a:ext cx="10799436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회로(Quantum Circuit) 구현</a:t>
            </a:r>
            <a:r>
              <a:rPr b="1" lang="ko-KR" sz="1600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ko-KR" sz="1600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0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GAN의 생성자와 판별자를 모두 양자 회로로 구현한 모델</a:t>
            </a:r>
            <a:endParaRPr b="0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상태 충실도(Quantum State Fidelity) 기반 손실 함수</a:t>
            </a:r>
            <a:r>
              <a:rPr b="0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: 생성자와 판별자 간의 경쟁과 학습을 위해, 두 양자 상태가 얼마나 유사한지를 측정하는 </a:t>
            </a:r>
            <a:r>
              <a:rPr b="1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'양자 상태 충실도’ </a:t>
            </a:r>
            <a:r>
              <a:rPr b="0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를 사용</a:t>
            </a:r>
            <a:r>
              <a:rPr lang="ko-KR" sz="1600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b="0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 '스왑 테스트(Swap Test)' 양자 알고리즘을 통해 계산됨</a:t>
            </a:r>
            <a:endParaRPr b="0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파라미터 수의 획기적인 감소</a:t>
            </a:r>
            <a:r>
              <a:rPr b="0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: 고전적인 GAN과 거의 동일한 성능을 달성하면서도, 사용하는 파라미터(학습 변수)의 수를 94.98%까지 크게 줄임</a:t>
            </a:r>
            <a:endParaRPr b="0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안정적인 학습</a:t>
            </a:r>
            <a:r>
              <a:rPr b="0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: 기존의 GAN이나 다른 양자 GAN(Qi-GAN, TFQ-GAN)들이 겪는 학습 불안정성, 모델 붕괴, 수렴 실패 등의 문제를 개선하여 더 안정적인 학습 과정을 달성함</a:t>
            </a:r>
            <a:endParaRPr b="0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순수 양자 아키텍처</a:t>
            </a:r>
            <a:r>
              <a:rPr b="0" i="0" lang="ko-KR" sz="1600" u="none" cap="none" strike="noStrike">
                <a:solidFill>
                  <a:srgbClr val="1B1C1D"/>
                </a:solidFill>
                <a:latin typeface="Noto Sans KR"/>
                <a:ea typeface="Noto Sans KR"/>
                <a:cs typeface="Noto Sans KR"/>
                <a:sym typeface="Noto Sans KR"/>
              </a:rPr>
              <a:t>: 생성자와 판별자 모두 양자 회로로 구성되어 있어, 고전적인 신경망과 양자 회로를 섞어 쓰는 하이브리드 방식보다 양자 시스템에 더 최적화된 구조를 가짐</a:t>
            </a:r>
            <a:endParaRPr b="0" i="0" sz="1600" u="none" cap="none" strike="noStrike">
              <a:solidFill>
                <a:srgbClr val="1B1C1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QuGAN 도전 과제</a:t>
            </a:r>
            <a:endParaRPr/>
          </a:p>
        </p:txBody>
      </p:sp>
      <p:sp>
        <p:nvSpPr>
          <p:cNvPr id="846" name="Google Shape;846;p29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47" name="Google Shape;847;p29"/>
          <p:cNvSpPr/>
          <p:nvPr/>
        </p:nvSpPr>
        <p:spPr>
          <a:xfrm>
            <a:off x="536948" y="1935464"/>
            <a:ext cx="10479395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하드웨어의 한계:</a:t>
            </a:r>
            <a:r>
              <a:rPr b="0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양자 컴퓨터는 큐비트 수가 여전히 제한적이며, 연산 중 양자 상태의 불안정성으로 인해 노이즈가 발생하기 </a:t>
            </a:r>
            <a:r>
              <a:rPr lang="ko-KR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쉬움</a:t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높은 계산 비용:</a:t>
            </a:r>
            <a:r>
              <a:rPr b="0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양자 시뮬레이터도 큐비트 수가 증가함에 따라 요구되는 컴퓨팅 자원(메모리, 시간)이 기하급수적으로 증가하며, 실제 장치를 모방한 샷 기반 시뮬레이션은 계산 비용이 매우 높음</a:t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훈련의 불안정성:</a:t>
            </a:r>
            <a:r>
              <a:rPr b="0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GAN 모델 자체가 훈련 과정에서 불안정성이 높은 것으로 알려져 있으며, 양자 회로의 특성(예: 측정의 확률적 본성, 노이즈)이 이러한 불안정성을 더욱 심화시킬 수 있음</a:t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확장성 (Scalability):</a:t>
            </a:r>
            <a:r>
              <a:rPr b="0" i="0" lang="ko-KR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더 많은 큐비트와 복잡한 회로로 확장하는 것은 기술적 어려움으로 남아있음</a:t>
            </a:r>
            <a:endParaRPr b="0" i="0" sz="16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0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FFFB"/>
              </a:buClr>
              <a:buSzPts val="3200"/>
              <a:buFont typeface="Noto Sans KR"/>
              <a:buNone/>
            </a:pPr>
            <a:r>
              <a:rPr lang="ko-KR">
                <a:solidFill>
                  <a:srgbClr val="FBFFFB"/>
                </a:solidFill>
              </a:rPr>
              <a:t>Appendix. Quantum Machine Learning Details</a:t>
            </a:r>
            <a:endParaRPr sz="4400">
              <a:solidFill>
                <a:srgbClr val="FBFFFB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KR"/>
              <a:buNone/>
            </a:pPr>
            <a:r>
              <a:rPr lang="ko-KR" sz="3600"/>
              <a:t>Quantum K-Nearest Neighbor (QKNN) 1/2</a:t>
            </a:r>
            <a:endParaRPr sz="3600"/>
          </a:p>
        </p:txBody>
      </p:sp>
      <p:sp>
        <p:nvSpPr>
          <p:cNvPr id="858" name="Google Shape;858;p31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59" name="Google Shape;859;p31"/>
          <p:cNvSpPr/>
          <p:nvPr/>
        </p:nvSpPr>
        <p:spPr>
          <a:xfrm>
            <a:off x="622577" y="1207205"/>
            <a:ext cx="10946846" cy="34841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73" l="-835" r="-891" t="-1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860" name="Google Shape;8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1384" y="4612212"/>
            <a:ext cx="3719874" cy="1732203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31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2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KR"/>
              <a:buNone/>
            </a:pPr>
            <a:r>
              <a:rPr lang="ko-KR" sz="3600"/>
              <a:t>Quantum K-Nearest Neighbor (QKNN) 2/2</a:t>
            </a:r>
            <a:endParaRPr sz="3600"/>
          </a:p>
        </p:txBody>
      </p:sp>
      <p:sp>
        <p:nvSpPr>
          <p:cNvPr id="867" name="Google Shape;867;p32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68" name="Google Shape;868;p32"/>
          <p:cNvSpPr/>
          <p:nvPr/>
        </p:nvSpPr>
        <p:spPr>
          <a:xfrm>
            <a:off x="672066" y="1190058"/>
            <a:ext cx="10555426" cy="39506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66" r="-289" t="-12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69" name="Google Shape;869;p32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3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KR"/>
              <a:buNone/>
            </a:pPr>
            <a:r>
              <a:rPr lang="ko-KR" sz="3200"/>
              <a:t>Quantum Support Vector Machine (QSVM) 1/2</a:t>
            </a:r>
            <a:endParaRPr sz="3200"/>
          </a:p>
        </p:txBody>
      </p:sp>
      <p:sp>
        <p:nvSpPr>
          <p:cNvPr id="875" name="Google Shape;875;p33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76" name="Google Shape;876;p33"/>
          <p:cNvPicPr preferRelativeResize="0"/>
          <p:nvPr/>
        </p:nvPicPr>
        <p:blipFill rotWithShape="1">
          <a:blip r:embed="rId3">
            <a:alphaModFix/>
          </a:blip>
          <a:srcRect b="29470" l="0" r="0" t="0"/>
          <a:stretch/>
        </p:blipFill>
        <p:spPr>
          <a:xfrm>
            <a:off x="4383896" y="4123424"/>
            <a:ext cx="3394849" cy="184987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33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8" name="Google Shape;878;p33"/>
          <p:cNvSpPr/>
          <p:nvPr/>
        </p:nvSpPr>
        <p:spPr>
          <a:xfrm>
            <a:off x="543731" y="1020754"/>
            <a:ext cx="11075182" cy="287347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19" l="-826" r="-220" t="-16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4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KR"/>
              <a:buNone/>
            </a:pPr>
            <a:r>
              <a:rPr lang="ko-KR" sz="3200"/>
              <a:t>Quantum Support Vector Machine (QSVM) 2/2</a:t>
            </a:r>
            <a:endParaRPr sz="3200"/>
          </a:p>
        </p:txBody>
      </p:sp>
      <p:sp>
        <p:nvSpPr>
          <p:cNvPr id="884" name="Google Shape;884;p34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85" name="Google Shape;885;p34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886" name="Google Shape;886;p34"/>
          <p:cNvGrpSpPr/>
          <p:nvPr/>
        </p:nvGrpSpPr>
        <p:grpSpPr>
          <a:xfrm>
            <a:off x="543731" y="1425779"/>
            <a:ext cx="11075182" cy="4597019"/>
            <a:chOff x="543731" y="1425779"/>
            <a:chExt cx="11075182" cy="4597019"/>
          </a:xfrm>
        </p:grpSpPr>
        <p:sp>
          <p:nvSpPr>
            <p:cNvPr id="887" name="Google Shape;887;p34"/>
            <p:cNvSpPr/>
            <p:nvPr/>
          </p:nvSpPr>
          <p:spPr>
            <a:xfrm>
              <a:off x="543731" y="1425779"/>
              <a:ext cx="11075182" cy="459701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826" r="0" t="-106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pic>
          <p:nvPicPr>
            <p:cNvPr id="888" name="Google Shape;888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24646" y="1817600"/>
              <a:ext cx="1695687" cy="771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9" name="Google Shape;889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68249" y="3343856"/>
              <a:ext cx="4429743" cy="96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5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K-Means Clustering (1/2)</a:t>
            </a:r>
            <a:endParaRPr/>
          </a:p>
        </p:txBody>
      </p:sp>
      <p:sp>
        <p:nvSpPr>
          <p:cNvPr id="895" name="Google Shape;895;p35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96" name="Google Shape;89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5773" y="4858576"/>
            <a:ext cx="3280455" cy="1547484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35"/>
          <p:cNvSpPr/>
          <p:nvPr/>
        </p:nvSpPr>
        <p:spPr>
          <a:xfrm>
            <a:off x="543731" y="1165426"/>
            <a:ext cx="11075181" cy="36692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95" l="-826" r="0" t="-13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898" name="Google Shape;898;p35"/>
          <p:cNvGrpSpPr/>
          <p:nvPr/>
        </p:nvGrpSpPr>
        <p:grpSpPr>
          <a:xfrm>
            <a:off x="3186208" y="3655156"/>
            <a:ext cx="2837220" cy="873306"/>
            <a:chOff x="3354745" y="1853643"/>
            <a:chExt cx="3253938" cy="1114741"/>
          </a:xfrm>
        </p:grpSpPr>
        <p:pic>
          <p:nvPicPr>
            <p:cNvPr id="899" name="Google Shape;899;p35"/>
            <p:cNvPicPr preferRelativeResize="0"/>
            <p:nvPr/>
          </p:nvPicPr>
          <p:blipFill rotWithShape="1">
            <a:blip r:embed="rId5">
              <a:alphaModFix/>
            </a:blip>
            <a:srcRect b="4731" l="16703" r="19864" t="54738"/>
            <a:stretch/>
          </p:blipFill>
          <p:spPr>
            <a:xfrm>
              <a:off x="3354745" y="2381230"/>
              <a:ext cx="3253938" cy="5871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0" name="Google Shape;900;p35"/>
            <p:cNvGrpSpPr/>
            <p:nvPr/>
          </p:nvGrpSpPr>
          <p:grpSpPr>
            <a:xfrm>
              <a:off x="3354745" y="1853643"/>
              <a:ext cx="2726576" cy="393512"/>
              <a:chOff x="-1197033" y="4070423"/>
              <a:chExt cx="2726576" cy="393512"/>
            </a:xfrm>
          </p:grpSpPr>
          <p:pic>
            <p:nvPicPr>
              <p:cNvPr id="901" name="Google Shape;901;p35"/>
              <p:cNvPicPr preferRelativeResize="0"/>
              <p:nvPr/>
            </p:nvPicPr>
            <p:blipFill rotWithShape="1">
              <a:blip r:embed="rId5">
                <a:alphaModFix/>
              </a:blip>
              <a:srcRect b="77428" l="85563" r="0" t="0"/>
              <a:stretch/>
            </p:blipFill>
            <p:spPr>
              <a:xfrm>
                <a:off x="-1197033" y="4070423"/>
                <a:ext cx="891192" cy="3935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2" name="Google Shape;902;p35"/>
              <p:cNvPicPr preferRelativeResize="0"/>
              <p:nvPr/>
            </p:nvPicPr>
            <p:blipFill rotWithShape="1">
              <a:blip r:embed="rId5">
                <a:alphaModFix/>
              </a:blip>
              <a:srcRect b="56834" l="0" r="67277" t="20593"/>
              <a:stretch/>
            </p:blipFill>
            <p:spPr>
              <a:xfrm>
                <a:off x="-490491" y="4070423"/>
                <a:ext cx="2020034" cy="3935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03" name="Google Shape;903;p35"/>
          <p:cNvSpPr txBox="1"/>
          <p:nvPr/>
        </p:nvSpPr>
        <p:spPr>
          <a:xfrm>
            <a:off x="674751" y="6202495"/>
            <a:ext cx="832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6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K-Means Clustering (2/2)</a:t>
            </a:r>
            <a:endParaRPr/>
          </a:p>
        </p:txBody>
      </p:sp>
      <p:sp>
        <p:nvSpPr>
          <p:cNvPr id="909" name="Google Shape;909;p36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10" name="Google Shape;910;p36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1" name="Google Shape;911;p36"/>
          <p:cNvSpPr/>
          <p:nvPr/>
        </p:nvSpPr>
        <p:spPr>
          <a:xfrm>
            <a:off x="543731" y="1256130"/>
            <a:ext cx="11075181" cy="39506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26" r="-660" t="-12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7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Neural Network (QNN) (1/2)</a:t>
            </a:r>
            <a:endParaRPr/>
          </a:p>
        </p:txBody>
      </p:sp>
      <p:sp>
        <p:nvSpPr>
          <p:cNvPr id="917" name="Google Shape;917;p37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18" name="Google Shape;918;p37"/>
          <p:cNvSpPr/>
          <p:nvPr/>
        </p:nvSpPr>
        <p:spPr>
          <a:xfrm>
            <a:off x="845835" y="1031382"/>
            <a:ext cx="10500330" cy="2873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정의: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노드(뉴런)와 가중치(시냅스 강도)로 연결된 다차원 그래프 구조의 계산 모델입니다. 양자 신경망(QNN)은 이러한 인공신경망의 정보 처리 구조를 양자 시스템(예: 상호작용하는 양자 점, 매개변수화된 양자 회로 등)으로 구현하거나 양자 역학적 원리를 결합한 모델을 뜻합니다.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목적: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훈련 데이터를 통해 시냅스 가중치를 학습하여, 입력과 출력 사이의 숨겨진 매핑 관계를 도출하는 것입니다.</a:t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및 수식: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고전 신경망은 각 뉴런이 이전 층의 출력에 가중치를 곱해 더한 후, </a:t>
            </a: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 활성화 함수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를 통과시켜 값을 업데이트합니다.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sz="1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 활성화 함수: 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우측 하단 이미지 참조</a:t>
            </a:r>
            <a:endParaRPr b="1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540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양자적 난제: 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동역학은 본질적으로 확률을 보존하는 가역적이고 </a:t>
            </a:r>
            <a:r>
              <a:rPr b="1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선형적인 유니터리 변환(Unitary transformation)</a:t>
            </a:r>
            <a:r>
              <a:rPr b="0" i="0" lang="ko-KR" sz="1400" u="none" cap="none" strike="noStrike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을 따릅니다. 고전 신경망의 핵심인 '비선형 활성화 함수'를 의미 있는 양자 역학적 틀로 번역하는 것이 QNN 설계에서 중요합니다.</a:t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19" name="Google Shape;9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2233" y="3827292"/>
            <a:ext cx="2810661" cy="232253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37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ML — Sigmoid 대신 ReLU? 상황에 맞는 활성화 함수 사용하기 | by ..." id="921" name="Google Shape;92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446" y="3827292"/>
            <a:ext cx="4332798" cy="2413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8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Neural Network (QNN) (2/2)</a:t>
            </a:r>
            <a:endParaRPr/>
          </a:p>
        </p:txBody>
      </p:sp>
      <p:sp>
        <p:nvSpPr>
          <p:cNvPr id="927" name="Google Shape;927;p38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28" name="Google Shape;928;p38"/>
          <p:cNvSpPr/>
          <p:nvPr/>
        </p:nvSpPr>
        <p:spPr>
          <a:xfrm>
            <a:off x="845835" y="1570634"/>
            <a:ext cx="10500330" cy="39506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88" l="-929" r="-407" t="-12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29" name="Google Shape;929;p38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9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Decision Tree (QDT) (1/2)</a:t>
            </a:r>
            <a:endParaRPr/>
          </a:p>
        </p:txBody>
      </p:sp>
      <p:sp>
        <p:nvSpPr>
          <p:cNvPr id="935" name="Google Shape;935;p39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36" name="Google Shape;936;p39"/>
          <p:cNvSpPr/>
          <p:nvPr/>
        </p:nvSpPr>
        <p:spPr>
          <a:xfrm>
            <a:off x="558410" y="1053443"/>
            <a:ext cx="11075180" cy="2442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정의: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스무고개처럼 특정 기준(질문)에 따라 데이터를 분기하여 최종 클래스에 도달하는 트리 형태의 분류기입니다. 양자 의사결정 나무(QDT)는 고전적 특징 데이터를 양자 상태로 인코딩하고, 각 노드에서의 분기 결정을 양자 역학적 측정이나 연산으로 수행하는 모델입니다.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목적: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데이터셋을 '가장 잘 정돈된' 하위 하위 그룹들로 반복적으로 분할하여, 새로운 데이터의 클래스를 예측하는 것입니다. 딥러닝과 달리 모델의 판단 근거를 인간이 직관적으로 이해 (해석 가능성)할 수 있다는 것이 최대 강점입니다.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및 수식: 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트리를 얼마나 '잘' 분할했는지를 평가하기 위해 혼잡도(불확실성)를 측정하는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엔트로피(Entropy)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개념을 사용합니다.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고전적 분할 (Shannon Entropy):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분할된 하위 집합의 확률을 이용하여 정보량을 계산).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양자적 분할 제안 (Lu &amp; Brainstein):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특징 벡터들을 양자 상태로 인코딩한 뒤 , 섀넌 엔트로피 대신 양자 시스템의 혼란도를 측정하는 </a:t>
            </a: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폰 노이만 엔트로피(von Neumann entropy)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사용하여 그래프 분할 기준을 설계합니다.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37" name="Google Shape;9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4870" y="3580330"/>
            <a:ext cx="3702261" cy="2622165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39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0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Decision Tree (QDT) (2/2)</a:t>
            </a:r>
            <a:endParaRPr/>
          </a:p>
        </p:txBody>
      </p:sp>
      <p:sp>
        <p:nvSpPr>
          <p:cNvPr id="944" name="Google Shape;944;p40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45" name="Google Shape;945;p40"/>
          <p:cNvSpPr/>
          <p:nvPr/>
        </p:nvSpPr>
        <p:spPr>
          <a:xfrm>
            <a:off x="558410" y="1561378"/>
            <a:ext cx="11075180" cy="37352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81" r="-606" t="-13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46" name="Google Shape;946;p40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1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Probability Models (1/2)</a:t>
            </a:r>
            <a:endParaRPr/>
          </a:p>
        </p:txBody>
      </p:sp>
      <p:sp>
        <p:nvSpPr>
          <p:cNvPr id="952" name="Google Shape;952;p41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53" name="Google Shape;953;p41"/>
          <p:cNvSpPr/>
          <p:nvPr/>
        </p:nvSpPr>
        <p:spPr>
          <a:xfrm>
            <a:off x="543731" y="1094139"/>
            <a:ext cx="11075181" cy="2442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정의: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데이터에 내재된 불확실성과 무작위성을 확률 분포 및 상태 전이로 모델링하는 기법입니다. 대표적으로 베이지안 모델과 은닉 양자 마르코프 모델 (HQMM), 그리고 최근의 양자 생성형 모델 (QGAN, QuDDPM)이 포함됩니다.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목적: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불확실성이 높은 연속된 관측 데이터(음성, 텍스트, 시계열 등)로부터 숨겨진 최적의 상태를 추론하거나, 훈련 데이터의 확률 분포를 학습하여 새로운 양자 및 고전 데이터를 생성하는 것입니다.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및 수식: 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고전 확률 통계학을 양자 역학의 밀도 행렬(Density Matrix)과 측정 이론으로 확장합니다.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베이지안 양자 상태 분류: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베이즈 정리를 활용하되, 미지의 양자 상태를 구별하기 위해 양자 측정기인 POVM (Positive Operator-Valued Measure)을 분류기로 학습합니다.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은닉 양자 마르코프 모델 (HQMM):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고전적인 확률 전이 행렬 대신, 크라우스 연산자(Kraus Operators)를 사용하여 밀도 행렬의 변화를 표현합니다. 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54" name="Google Shape;9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5265" y="3515232"/>
            <a:ext cx="2961470" cy="26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41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2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Quantum Probability Models (2/2)</a:t>
            </a:r>
            <a:endParaRPr/>
          </a:p>
        </p:txBody>
      </p:sp>
      <p:sp>
        <p:nvSpPr>
          <p:cNvPr id="961" name="Google Shape;961;p42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62" name="Google Shape;962;p42"/>
          <p:cNvSpPr/>
          <p:nvPr/>
        </p:nvSpPr>
        <p:spPr>
          <a:xfrm>
            <a:off x="543731" y="1498166"/>
            <a:ext cx="11075181" cy="30889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75" l="-826" r="0" t="-17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63" name="Google Shape;963;p42"/>
          <p:cNvSpPr txBox="1"/>
          <p:nvPr/>
        </p:nvSpPr>
        <p:spPr>
          <a:xfrm>
            <a:off x="674751" y="6202495"/>
            <a:ext cx="83203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An introduction to quantum machine learning, 2014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3"/>
          <p:cNvSpPr txBox="1"/>
          <p:nvPr>
            <p:ph idx="1" type="body"/>
          </p:nvPr>
        </p:nvSpPr>
        <p:spPr>
          <a:xfrm>
            <a:off x="698501" y="3925723"/>
            <a:ext cx="10795000" cy="44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ko-KR"/>
              <a:t>hyunhopart@megazone.com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2025-01-14T02:29:22Z</dcterms:created>
  <dc:creator>MZC01-HYUNHOPART</dc:creator>
</cp:coreProperties>
</file>